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modernComment_105_0.xml" ContentType="application/vnd.ms-powerpoint.comments+xml"/>
  <Override PartName="/ppt/notesSlides/notesSlide8.xml" ContentType="application/vnd.openxmlformats-officedocument.presentationml.notesSlide+xml"/>
  <Override PartName="/ppt/comments/modernComment_106_0.xml" ContentType="application/vnd.ms-powerpoint.comments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11.xml" ContentType="application/vnd.openxmlformats-officedocument.presentationml.notesSlide+xml"/>
  <Override PartName="/ppt/comments/modernComment_108_0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0" r:id="rId4"/>
    <p:sldId id="258" r:id="rId5"/>
    <p:sldId id="260" r:id="rId6"/>
    <p:sldId id="259" r:id="rId7"/>
    <p:sldId id="261" r:id="rId8"/>
    <p:sldId id="262" r:id="rId9"/>
    <p:sldId id="271" r:id="rId10"/>
    <p:sldId id="263" r:id="rId11"/>
    <p:sldId id="272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734A1C3-EC69-7B21-A0E5-3BABAF683651}">
          <p14:sldIdLst>
            <p14:sldId id="256"/>
          </p14:sldIdLst>
        </p14:section>
        <p14:section name="Problem and product" id="{C1287A39-F303-8FA9-6AA1-9B1B995C0911}">
          <p14:sldIdLst>
            <p14:sldId id="257"/>
            <p14:sldId id="270"/>
            <p14:sldId id="258"/>
            <p14:sldId id="260"/>
            <p14:sldId id="259"/>
          </p14:sldIdLst>
        </p14:section>
        <p14:section name="Demo" id="{234433C5-4A38-F292-AF73-3ACB326DDDB5}">
          <p14:sldIdLst/>
        </p14:section>
        <p14:section name="Business" id="{4AF2868E-4734-AD7F-2B4B-8C2D2AD6563D}">
          <p14:sldIdLst>
            <p14:sldId id="261"/>
            <p14:sldId id="262"/>
            <p14:sldId id="271"/>
            <p14:sldId id="263"/>
          </p14:sldIdLst>
        </p14:section>
        <p14:section name="Market" id="{6D006C21-5AC2-917E-2826-869DD3D0D75E}">
          <p14:sldIdLst>
            <p14:sldId id="272"/>
            <p14:sldId id="264"/>
            <p14:sldId id="265"/>
            <p14:sldId id="266"/>
            <p14:sldId id="267"/>
          </p14:sldIdLst>
        </p14:section>
        <p14:section name="Close" id="{90F995DF-9AA4-B665-0BC7-AAC94116024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7B4B64-0625-02AB-4A1C-BDE4BBCB8117}" name="Nodirbek Saidov" initials="NS" userId="Nodirbek Saidov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211"/>
    <p:restoredTop sz="94597"/>
  </p:normalViewPr>
  <p:slideViewPr>
    <p:cSldViewPr snapToGrid="0" snapToObjects="1">
      <p:cViewPr varScale="1">
        <p:scale>
          <a:sx n="71" d="100"/>
          <a:sy n="71" d="100"/>
        </p:scale>
        <p:origin x="184" y="3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5110E"/>
                </a:solidFill>
                <a:latin typeface="+mn-lt"/>
              </a:defRPr>
            </a:pPr>
            <a:r>
              <a:rPr lang="en-IN" sz="1500" b="0" i="0" u="none" strike="noStrike">
                <a:solidFill>
                  <a:srgbClr val="15110E"/>
                </a:solidFill>
                <a:latin typeface="+mn-lt"/>
              </a:rPr>
              <a:t>Use of funds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 (€k)</c:v>
                </c:pt>
              </c:strCache>
            </c:strRef>
          </c:tx>
          <c:spPr>
            <a:solidFill>
              <a:srgbClr val="15110E"/>
            </a:solidFill>
            <a:effectLst/>
          </c:spPr>
          <c:invertIfNegative val="0"/>
          <c:dLbls>
            <c:numFmt formatCode="&quot;€&quot;0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chemeClr val="accent2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Team of 4</c:v>
                </c:pt>
                <c:pt idx="1">
                  <c:v>Contingency, 15%</c:v>
                </c:pt>
                <c:pt idx="2">
                  <c:v>Setup, legal, tools, office</c:v>
                </c:pt>
                <c:pt idx="3">
                  <c:v>Marketing and events</c:v>
                </c:pt>
                <c:pt idx="4">
                  <c:v>Hosting and AI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144</c:v>
                </c:pt>
                <c:pt idx="1">
                  <c:v>30</c:v>
                </c:pt>
                <c:pt idx="2">
                  <c:v>28</c:v>
                </c:pt>
                <c:pt idx="3">
                  <c:v>24</c:v>
                </c:pt>
                <c:pt idx="4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95B-4DFA-999A-E7E65DE377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5110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  <c:userShapes r:id="rId2"/>
</c:chartSpace>
</file>

<file path=ppt/comments/modernComment_105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DCC419-8B68-7844-ABFC-5545655406FF}" authorId="{D57B4B64-0625-02AB-4A1C-BDE4BBCB8117}" created="2026-10-25T17:33:53.514">
    <pc:sldMkLst xmlns:pc="http://schemas.microsoft.com/office/powerpoint/2013/main/command">
      <pc:docMk/>
      <pc:sldMk cId="0" sldId="261"/>
    </pc:sldMkLst>
    <p188:txBody>
      <a:bodyPr/>
      <a:lstStyle/>
      <a:p>
        <a:r>
          <a:rPr lang="en-DE"/>
          <a:t>@bhuva slim slide out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200F41E-1D6D-C44A-B847-2D4CBF38CC20}" authorId="{D57B4B64-0625-02AB-4A1C-BDE4BBCB8117}" created="2026-10-25T17:36:37.777">
    <pc:sldMkLst xmlns:pc="http://schemas.microsoft.com/office/powerpoint/2013/main/command">
      <pc:docMk/>
      <pc:sldMk cId="0" sldId="262"/>
    </pc:sldMkLst>
    <p188:txBody>
      <a:bodyPr/>
      <a:lstStyle/>
      <a:p>
        <a:r>
          <a:rPr lang="en-DE"/>
          <a:t>either Ana or Bhuva</a:t>
        </a:r>
      </a:p>
    </p188:txBody>
  </p188:cm>
</p188:cmLst>
</file>

<file path=ppt/comments/modernComment_108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E5633D-E692-2C40-91B9-E7A0817F5974}" authorId="{D57B4B64-0625-02AB-4A1C-BDE4BBCB8117}" created="2026-10-25T17:49:24.320">
    <pc:sldMkLst xmlns:pc="http://schemas.microsoft.com/office/powerpoint/2013/main/command">
      <pc:docMk/>
      <pc:sldMk cId="0" sldId="264"/>
    </pc:sldMkLst>
    <p188:txBody>
      <a:bodyPr/>
      <a:lstStyle/>
      <a:p>
        <a:r>
          <a:rPr lang="en-DE"/>
          <a:t>click and hide</a:t>
        </a:r>
      </a:p>
    </p188:txBody>
  </p188:cm>
</p188:cmLst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0.33708</cdr:x>
      <cdr:y>0.10278</cdr:y>
    </cdr:from>
    <cdr:to>
      <cdr:x>0.99713</cdr:x>
      <cdr:y>1</cdr:y>
    </cdr:to>
    <cdr:pic>
      <cdr:nvPicPr>
        <cdr:cNvPr id="2" name="chart">
          <a:extLst xmlns:a="http://schemas.openxmlformats.org/drawingml/2006/main">
            <a:ext uri="{FF2B5EF4-FFF2-40B4-BE49-F238E27FC236}">
              <a16:creationId xmlns:a16="http://schemas.microsoft.com/office/drawing/2014/main" id="{21F1B86A-5AA5-F0EB-B73E-8EDADE16250D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2266722" y="366521"/>
          <a:ext cx="4438650" cy="3199632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400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Open with the question: "Hands up if you have opened LinkedIn after an event and had no idea who someone was." Then: "We are Syncy." Name the team in one breath, then thank the mentor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[0:20–1:05] A consultant who goes to two events a month meets about 200 people a year. Doing the follow-up properly takes about 8 minutes each: write down what was said, find the profile again, decide which project they matter for, write a personal message. That is 27 hours a year, about €2,780 of billable time at the €103 average rate. Most people skip it, and the contact is lost. Read the survey count out loud (fill the bracket first). Then the solution in one sentence: scan, talk for 20 seconds, get a follow-up matched to your own projects.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600A3-AB53-D86D-4BE8-CBF15C57D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D6F4B-FC4D-C576-7A6D-CEDF9D2E6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B7C38-A286-1E91-16D4-77560101F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[0:20–1:05] A consultant who goes to two events a month meets about 200 people a year. Doing the follow-up properly takes about 8 minutes each: write down what was said, find the profile again, decide which project they matter for, write a personal message. That is 27 hours a year, about €2,780 of billable time at the €103 average rate. Most people skip it, and the contact is lost. Read the survey count out loud (fill the bracket first). Then the solution in one sentence: scan, talk for 20 seconds, get a follow-up matched to your own projects.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8316D-D899-F7C2-A442-EE18E110BC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6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[1:05–1:45] Today the follow-up is five manual steps across LinkedIn, a notes app, Notion and email. With Syncy it is three: scan, talk, review. The AI does four jobs: transcribes the memo, summarises it, matches the person to one of your own Notion projects with a reason, and drafts the follow-up. Be precise about Notion: we import your projects from Notion; the contacts live in Syncy. Nothing is sent without your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[2:20–3:50] Ninety seconds. Narrate the user, not the tech: "Lena just met a CTO who needs a data migration." Enter the event, scan Lena’s fictional QR, record a 20-second memo, watch the AI steps, show the card with the matched project and its reason, save, end on the contacts dashboard. Say how long scan-to-saved took. If the network fails, switch to the screen recording without apologising.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[1:45–2:20] Per contact, Syncy cuts 8 minutes to about 2.5 minutes of checking and sending. That is 1.5 hours a month and 18 hours a year, worth about €1,890 of billable time. Pro costs €108 a year, so it pays back about 17 times. Careful: 27 hours is what follow-up costs today, not what we save. The saving is 18 hours. Both minute figures are estimates; the demo shows the real time from scan to saved contact.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[3:50–4:25] Every contact makes three AI calls: transcription, summary, and the project match with the follow-up draft. At today’s list prices that is $0.00053 for a full 60-second memo. A paying customer with 200 contacts a year costs about 11 cents in AI. Fixed services are about $550 a year, and Supabase Pro carries up to 100,000 monthly active users. In the business plan we budget €2,000 for hosting and AI in year one, with a 10× buffer, against about €11,000 of revenue. Running cost is not our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[4:25–5:00] FILL THE BRACKETS FROM THE SURVEY BEFORE PRESENTING, and never round up. Say plainly: 10 people we know, a first signal, not proof. Then the plan: 20 pilot users in December, paid launch in June, 400 paying users by October 2027. That is about €11,000 of revenue in year one and a €43,000 yearly run-rate at the end (400 × €108). With 19 free users per payer we carry about 8,000 users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789DA-3D36-C073-04A4-66545F61D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393B3-26C0-5306-C3F8-D13636A94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237AA-83B6-A738-29AF-AF113ECB4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[4:25–5:00] FILL THE BRACKETS FROM THE SURVEY BEFORE PRESENTING, and never round up. Say plainly: 10 people we know, a first signal, not proof. Then the plan: 20 pilot users in December, paid launch in June, 400 paying users by October 2027. That is about €11,000 of revenue in year one and a €43,000 yearly run-rate at the end (400 × €108). With 19 free users per payer we carry about 8,000 users in total.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1B818-44E8-98B3-DA47-1DC1B7DF95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9344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[5:00–5:40] We ask for €220,000 for the first 12 months with a team of four on €2,500 a month each. Year one costs about €228,000; we expect about €11,000 of revenue. Two thirds goes to the team, then contingency, setup and legal, marketing and events. Hosting and AI is only €2,000. The milestones: 20 pilots in December, paid launch in June, 400 paying users by October 2027, then the team plan and Austria and Switzerland in 2028. Break-even is about 2,100 paying users. AGREE BEFOREHAND which four people are paid and stay on full-time; investors will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[5:40–6:15] Be honest here, it wins trust: Popl, folk and Blinq already offer AI voice notes, and folk and Popl give next steps. What none of them does is match a new contact to the projects you are actually working on. Our biggest competitor is free: LinkedIn plus a notes app. We win only by saving real time after every event. Re-check Dex and Popl the morning of the pitch for new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[6:15–6:35] Free gets people to the first event: one event and up to 25 contacts a month. Pro is €9 a month, €108 a year, with unlimited contacts and the Notion project matching. The team plan at €19 a seat comes in 2028. One won client project of €5,000 pays for 46 years of Pro.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[6:35–7:05] Each paying user brings €108 a year. Serving them costs about €13 at 1,000 users, even with AI budgeted at ten times the list price and the free users they bring. That is 88% gross margin from 1,000 users on. At our year-one target of 400 paying users we sit between 81% and 87%, with about 8,000 users in total. Most of the €13 is Stripe fees on monthly billing and the free users, not our own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[7:05–7:40] Three scenarios for where we are in year three. Conservative: 3,000 paying users in Germany, €324,000 a year. Base: 9,000 users across DACH once we add Google Drive and Sheets, about €970,000. Upside: 20,000 users with EU expansion, €2.16 million. Break-even is about 2,100 paying users, so even the conservative case clears it. These are model outputs, not forecasts.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[7:40–8:00] Close on the motto and the ask in one line: "€220,000 to prove consultants pay for a follow-up that knows their projects." Then stop and take questions. Likely questions: why €9, what stops folk or Popl adding project matching, what the survey showed, and who stays full-time.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1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0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">
    <p:bg>
      <p:bgPr>
        <a:solidFill>
          <a:srgbClr val="FF6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tx1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511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217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0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F6FB55B0-9C8C-C616-3A43-32D1706B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897" y="525272"/>
            <a:ext cx="4076700" cy="3937000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548640" y="662940"/>
            <a:ext cx="4206926" cy="564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Syncy</a:t>
            </a:r>
            <a:endParaRPr lang="en-US" sz="4000" dirty="0"/>
          </a:p>
        </p:txBody>
      </p:sp>
      <p:sp>
        <p:nvSpPr>
          <p:cNvPr id="5" name="Motto"/>
          <p:cNvSpPr txBox="1"/>
          <p:nvPr/>
        </p:nvSpPr>
        <p:spPr>
          <a:xfrm>
            <a:off x="548640" y="182880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more wincing at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“who was that?”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56661" y="39455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</a:t>
            </a:r>
            <a:endParaRPr lang="en-US" sz="2400" dirty="0"/>
          </a:p>
        </p:txBody>
      </p:sp>
      <p:sp>
        <p:nvSpPr>
          <p:cNvPr id="8" name="Team member 1"/>
          <p:cNvSpPr/>
          <p:nvPr/>
        </p:nvSpPr>
        <p:spPr>
          <a:xfrm>
            <a:off x="548640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Nodirbek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 &amp; frontend</a:t>
            </a:r>
            <a:endParaRPr lang="en-US" sz="1200" dirty="0"/>
          </a:p>
        </p:txBody>
      </p:sp>
      <p:sp>
        <p:nvSpPr>
          <p:cNvPr id="11" name="Team member 2"/>
          <p:cNvSpPr/>
          <p:nvPr/>
        </p:nvSpPr>
        <p:spPr>
          <a:xfrm>
            <a:off x="2807894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72486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Utkarsh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72486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Backend &amp; AI</a:t>
            </a:r>
            <a:endParaRPr lang="en-US" sz="1200" dirty="0"/>
          </a:p>
        </p:txBody>
      </p:sp>
      <p:sp>
        <p:nvSpPr>
          <p:cNvPr id="14" name="Team member 3"/>
          <p:cNvSpPr/>
          <p:nvPr/>
        </p:nvSpPr>
        <p:spPr>
          <a:xfrm>
            <a:off x="5067148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31740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Bhuvanesh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231740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&amp; cost model</a:t>
            </a:r>
            <a:endParaRPr lang="en-US" sz="1200" dirty="0"/>
          </a:p>
        </p:txBody>
      </p:sp>
      <p:sp>
        <p:nvSpPr>
          <p:cNvPr id="17" name="Team member 4"/>
          <p:cNvSpPr/>
          <p:nvPr/>
        </p:nvSpPr>
        <p:spPr>
          <a:xfrm>
            <a:off x="7326401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0993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Anastasiya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90993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Research &amp; go-to-market</a:t>
            </a:r>
            <a:endParaRPr lang="en-US" sz="1200" dirty="0"/>
          </a:p>
        </p:txBody>
      </p:sp>
      <p:sp>
        <p:nvSpPr>
          <p:cNvPr id="20" name="Team member 5"/>
          <p:cNvSpPr/>
          <p:nvPr/>
        </p:nvSpPr>
        <p:spPr>
          <a:xfrm>
            <a:off x="9585655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50247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Sadaf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50247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Economics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577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Mentor: </a:t>
            </a:r>
            <a:r>
              <a:rPr lang="en-US" sz="1500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[Bita] 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BCBT AI Entrepreneurship Hackathon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4185" y="98298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meet 200 people a year. </a:t>
            </a:r>
            <a:b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</a:br>
            <a:r>
              <a:rPr lang="en-US" sz="34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week later, most are just a name</a:t>
            </a:r>
            <a:endParaRPr lang="en-US" sz="34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64185" y="3049524"/>
            <a:ext cx="3423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spc="300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27</a:t>
            </a:r>
            <a:r>
              <a:rPr lang="en-US" sz="66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h 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64185" y="4517136"/>
            <a:ext cx="3423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</a:t>
            </a:r>
            <a:r>
              <a:rPr lang="en-US" sz="1500" b="1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 average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to follow up properly: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minutes 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contact for notes, profile, project and message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99483" y="3049524"/>
            <a:ext cx="3423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2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</a:t>
            </a:r>
            <a:r>
              <a:rPr lang="en-US" sz="6600" b="1" spc="300" dirty="0">
                <a:solidFill>
                  <a:schemeClr val="accent2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2,780</a:t>
            </a:r>
            <a:endParaRPr lang="en-US" sz="6600" spc="300" dirty="0"/>
          </a:p>
        </p:txBody>
      </p:sp>
      <p:sp>
        <p:nvSpPr>
          <p:cNvPr id="9" name="Text 7"/>
          <p:cNvSpPr txBox="1"/>
          <p:nvPr/>
        </p:nvSpPr>
        <p:spPr>
          <a:xfrm>
            <a:off x="4399483" y="4521708"/>
            <a:ext cx="3423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billable time a year, at the </a:t>
            </a:r>
            <a:r>
              <a:rPr lang="en-US" sz="20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€103 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average freelancer hourly rate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34782" y="3049524"/>
            <a:ext cx="3423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 </a:t>
            </a:r>
            <a:r>
              <a:rPr lang="en-US" sz="6600" b="1" dirty="0">
                <a:solidFill>
                  <a:srgbClr val="FF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 </a:t>
            </a:r>
            <a:r>
              <a:rPr lang="en-US" sz="66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/ 10 ]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8234782" y="4453128"/>
            <a:ext cx="3423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we asked </a:t>
            </a:r>
            <a:r>
              <a:rPr lang="en-US" sz="24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lost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 contact they meant to follow up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84225" y="5532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Hourly rate: Freelancer-Kompass 2026. 200 contacts a year and 8 minutes per contact are our estimates.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C1135-B095-3A39-4FF4-D6B17196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03545C9B-4F08-AD64-75B8-46684CF8A5CB}"/>
              </a:ext>
            </a:extLst>
          </p:cNvPr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CE1CF7-EB20-3FA1-E6FF-68C649A22B89}"/>
              </a:ext>
            </a:extLst>
          </p:cNvPr>
          <p:cNvSpPr txBox="1"/>
          <p:nvPr/>
        </p:nvSpPr>
        <p:spPr>
          <a:xfrm>
            <a:off x="86868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8931A83-32AC-02F1-E14F-68D02C8A39C1}"/>
              </a:ext>
            </a:extLst>
          </p:cNvPr>
          <p:cNvSpPr txBox="1"/>
          <p:nvPr/>
        </p:nvSpPr>
        <p:spPr>
          <a:xfrm>
            <a:off x="747065" y="2574036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 is not only about the money, it is more about lost </a:t>
            </a:r>
            <a:r>
              <a:rPr lang="en-US" sz="32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opportunities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6" name="Footnote">
            <a:extLst>
              <a:ext uri="{FF2B5EF4-FFF2-40B4-BE49-F238E27FC236}">
                <a16:creationId xmlns:a16="http://schemas.microsoft.com/office/drawing/2014/main" id="{2963B2E0-609F-9F9F-CD6D-31CC7176547A}"/>
              </a:ext>
            </a:extLst>
          </p:cNvPr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Hourly rate: Freelancer-Kompass 2026. 200 contacts a year and 8 minutes per contact are our estimates.</a:t>
            </a:r>
            <a:endParaRPr lang="en-US" sz="10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4139CFC-A483-1261-D08E-D495C7B93A9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8F8A0204-6B17-415A-21DE-5082D432894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1001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SYNCY REMOVES THE FRICTION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596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steps. 4 apps.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4185" y="197347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4185" y="224779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 min</a:t>
            </a:r>
            <a:endParaRPr lang="en-US" sz="3000" dirty="0"/>
          </a:p>
        </p:txBody>
      </p:sp>
      <p:sp>
        <p:nvSpPr>
          <p:cNvPr id="6" name="Today step 1"/>
          <p:cNvSpPr/>
          <p:nvPr/>
        </p:nvSpPr>
        <p:spPr>
          <a:xfrm>
            <a:off x="2347265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84425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84425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Connect on LinkedIn</a:t>
            </a:r>
            <a:endParaRPr lang="en-US" sz="1400" dirty="0"/>
          </a:p>
        </p:txBody>
      </p:sp>
      <p:sp>
        <p:nvSpPr>
          <p:cNvPr id="9" name="Today step 2"/>
          <p:cNvSpPr/>
          <p:nvPr/>
        </p:nvSpPr>
        <p:spPr>
          <a:xfrm>
            <a:off x="4236964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74124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74124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Type notes on your phone</a:t>
            </a:r>
            <a:endParaRPr lang="en-US" sz="1400" dirty="0"/>
          </a:p>
        </p:txBody>
      </p:sp>
      <p:sp>
        <p:nvSpPr>
          <p:cNvPr id="12" name="Today step 3"/>
          <p:cNvSpPr/>
          <p:nvPr/>
        </p:nvSpPr>
        <p:spPr>
          <a:xfrm>
            <a:off x="6126663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823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823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 the profile again</a:t>
            </a:r>
            <a:endParaRPr lang="en-US" sz="1400" dirty="0"/>
          </a:p>
        </p:txBody>
      </p:sp>
      <p:sp>
        <p:nvSpPr>
          <p:cNvPr id="15" name="Today step 4"/>
          <p:cNvSpPr/>
          <p:nvPr/>
        </p:nvSpPr>
        <p:spPr>
          <a:xfrm>
            <a:off x="8016362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53522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53522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Decide which project</a:t>
            </a:r>
            <a:endParaRPr lang="en-US" sz="1400" dirty="0"/>
          </a:p>
        </p:txBody>
      </p:sp>
      <p:sp>
        <p:nvSpPr>
          <p:cNvPr id="18" name="Today step 5"/>
          <p:cNvSpPr/>
          <p:nvPr/>
        </p:nvSpPr>
        <p:spPr>
          <a:xfrm>
            <a:off x="9906061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43221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043221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Write the message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52DC0DE5-C6A7-402C-DB34-EEF56C57F7E9}"/>
              </a:ext>
            </a:extLst>
          </p:cNvPr>
          <p:cNvSpPr txBox="1"/>
          <p:nvPr/>
        </p:nvSpPr>
        <p:spPr>
          <a:xfrm>
            <a:off x="564185" y="3793633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SYNCY</a:t>
            </a:r>
            <a:endParaRPr lang="en-US" sz="13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AD8754B9-FF92-BDE2-3580-C9DE7A91C456}"/>
              </a:ext>
            </a:extLst>
          </p:cNvPr>
          <p:cNvSpPr txBox="1"/>
          <p:nvPr/>
        </p:nvSpPr>
        <p:spPr>
          <a:xfrm>
            <a:off x="564185" y="4067953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 min</a:t>
            </a:r>
            <a:endParaRPr lang="en-US" sz="3000" dirty="0"/>
          </a:p>
        </p:txBody>
      </p:sp>
      <p:sp>
        <p:nvSpPr>
          <p:cNvPr id="45" name="Syncy step 1">
            <a:extLst>
              <a:ext uri="{FF2B5EF4-FFF2-40B4-BE49-F238E27FC236}">
                <a16:creationId xmlns:a16="http://schemas.microsoft.com/office/drawing/2014/main" id="{118ACD84-C27A-79CF-4FB9-429C2C388B2C}"/>
              </a:ext>
            </a:extLst>
          </p:cNvPr>
          <p:cNvSpPr/>
          <p:nvPr/>
        </p:nvSpPr>
        <p:spPr>
          <a:xfrm>
            <a:off x="2347265" y="3747913"/>
            <a:ext cx="3012338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BED97E0F-50B0-0698-F00F-C3D19C86AC79}"/>
              </a:ext>
            </a:extLst>
          </p:cNvPr>
          <p:cNvSpPr txBox="1"/>
          <p:nvPr/>
        </p:nvSpPr>
        <p:spPr>
          <a:xfrm>
            <a:off x="2530145" y="3866785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 Scan</a:t>
            </a:r>
            <a:endParaRPr lang="en-US" sz="1700" dirty="0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017A01FF-8307-1309-7F68-BCBD699FAA25}"/>
              </a:ext>
            </a:extLst>
          </p:cNvPr>
          <p:cNvSpPr txBox="1"/>
          <p:nvPr/>
        </p:nvSpPr>
        <p:spPr>
          <a:xfrm>
            <a:off x="2530145" y="4223401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their LinkedIn or Xing QR</a:t>
            </a:r>
            <a:endParaRPr lang="en-US" sz="1400" dirty="0"/>
          </a:p>
        </p:txBody>
      </p:sp>
      <p:sp>
        <p:nvSpPr>
          <p:cNvPr id="48" name="Syncy step 2">
            <a:extLst>
              <a:ext uri="{FF2B5EF4-FFF2-40B4-BE49-F238E27FC236}">
                <a16:creationId xmlns:a16="http://schemas.microsoft.com/office/drawing/2014/main" id="{A7E51AFD-1E49-7BB6-BFBF-8A55AA3135D8}"/>
              </a:ext>
            </a:extLst>
          </p:cNvPr>
          <p:cNvSpPr/>
          <p:nvPr/>
        </p:nvSpPr>
        <p:spPr>
          <a:xfrm>
            <a:off x="5496763" y="3747913"/>
            <a:ext cx="3012338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A9B3A30B-1A8B-7995-C07D-1550D85391A5}"/>
              </a:ext>
            </a:extLst>
          </p:cNvPr>
          <p:cNvSpPr txBox="1"/>
          <p:nvPr/>
        </p:nvSpPr>
        <p:spPr>
          <a:xfrm>
            <a:off x="5679643" y="3866785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 Talk</a:t>
            </a:r>
            <a:endParaRPr lang="en-US" sz="1700" dirty="0"/>
          </a:p>
        </p:txBody>
      </p:sp>
      <p:sp>
        <p:nvSpPr>
          <p:cNvPr id="50" name="Text 26">
            <a:extLst>
              <a:ext uri="{FF2B5EF4-FFF2-40B4-BE49-F238E27FC236}">
                <a16:creationId xmlns:a16="http://schemas.microsoft.com/office/drawing/2014/main" id="{7D736374-2CE8-0EFA-4494-AA2E520B533C}"/>
              </a:ext>
            </a:extLst>
          </p:cNvPr>
          <p:cNvSpPr txBox="1"/>
          <p:nvPr/>
        </p:nvSpPr>
        <p:spPr>
          <a:xfrm>
            <a:off x="5679643" y="4223401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create your note</a:t>
            </a:r>
            <a:endParaRPr lang="en-US" sz="1400" dirty="0"/>
          </a:p>
        </p:txBody>
      </p:sp>
      <p:sp>
        <p:nvSpPr>
          <p:cNvPr id="51" name="Syncy step 3">
            <a:extLst>
              <a:ext uri="{FF2B5EF4-FFF2-40B4-BE49-F238E27FC236}">
                <a16:creationId xmlns:a16="http://schemas.microsoft.com/office/drawing/2014/main" id="{21858464-FE09-0D4A-EB58-B57CA0319CE7}"/>
              </a:ext>
            </a:extLst>
          </p:cNvPr>
          <p:cNvSpPr/>
          <p:nvPr/>
        </p:nvSpPr>
        <p:spPr>
          <a:xfrm>
            <a:off x="8646262" y="3747913"/>
            <a:ext cx="3012338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52" name="Text 28">
            <a:extLst>
              <a:ext uri="{FF2B5EF4-FFF2-40B4-BE49-F238E27FC236}">
                <a16:creationId xmlns:a16="http://schemas.microsoft.com/office/drawing/2014/main" id="{5FE7FCF1-905D-561D-A11B-F71806BF3412}"/>
              </a:ext>
            </a:extLst>
          </p:cNvPr>
          <p:cNvSpPr txBox="1"/>
          <p:nvPr/>
        </p:nvSpPr>
        <p:spPr>
          <a:xfrm>
            <a:off x="8829142" y="3866785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 Review and send</a:t>
            </a:r>
            <a:endParaRPr lang="en-US" sz="1700" dirty="0"/>
          </a:p>
        </p:txBody>
      </p:sp>
      <p:sp>
        <p:nvSpPr>
          <p:cNvPr id="53" name="Text 29">
            <a:extLst>
              <a:ext uri="{FF2B5EF4-FFF2-40B4-BE49-F238E27FC236}">
                <a16:creationId xmlns:a16="http://schemas.microsoft.com/office/drawing/2014/main" id="{8C95FF13-CCF8-090B-51F9-2CF41C42ABEB}"/>
              </a:ext>
            </a:extLst>
          </p:cNvPr>
          <p:cNvSpPr txBox="1"/>
          <p:nvPr/>
        </p:nvSpPr>
        <p:spPr>
          <a:xfrm>
            <a:off x="8829142" y="4223401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card, project match, draft</a:t>
            </a:r>
            <a:endParaRPr lang="en-US" sz="1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604E20-487B-3C06-93EB-016351EDF153}"/>
              </a:ext>
            </a:extLst>
          </p:cNvPr>
          <p:cNvSpPr txBox="1"/>
          <p:nvPr/>
        </p:nvSpPr>
        <p:spPr>
          <a:xfrm>
            <a:off x="500633" y="5555783"/>
            <a:ext cx="609391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app. 1 minute.</a:t>
            </a:r>
            <a:endParaRPr lang="en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91627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06342"/>
            <a:ext cx="7315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LIVE</a:t>
            </a:r>
            <a:endParaRPr lang="en-US" sz="20000" dirty="0"/>
          </a:p>
        </p:txBody>
      </p:sp>
      <p:sp>
        <p:nvSpPr>
          <p:cNvPr id="4" name="Syncy sphere"/>
          <p:cNvSpPr/>
          <p:nvPr/>
        </p:nvSpPr>
        <p:spPr>
          <a:xfrm>
            <a:off x="8869680" y="822960"/>
            <a:ext cx="2651760" cy="2651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Scan → Talk → Follow up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 the event · scan Lena’s QR · 20-second memo · AI card with project match · save · dashboard</a:t>
            </a:r>
            <a:endParaRPr lang="en-US" sz="16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Real AI calls. Invented demo people only. Backup: the 2-minute screen recording.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E328BA-A892-DD4B-E1A8-DD97A72C5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897" y="525272"/>
            <a:ext cx="407670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SAVES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hours and €1,890 back per person, every year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 → 2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per contact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365760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023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17×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83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€108 yearly price of Pro, paid back in billable time</a:t>
            </a:r>
            <a:endParaRPr lang="en-US" sz="1500" dirty="0"/>
          </a:p>
        </p:txBody>
      </p:sp>
      <p:graphicFrame>
        <p:nvGraphicFramePr>
          <p:cNvPr id="9" name="Saving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8054011"/>
              </p:ext>
            </p:extLst>
          </p:nvPr>
        </p:nvGraphicFramePr>
        <p:xfrm>
          <a:off x="4892040" y="2103120"/>
          <a:ext cx="6748272" cy="2834640"/>
        </p:xfrm>
        <a:graphic>
          <a:graphicData uri="http://schemas.openxmlformats.org/drawingml/2006/table">
            <a:tbl>
              <a:tblPr/>
              <a:tblGrid>
                <a:gridCol w="1993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6B1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contact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6B1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month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6B1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year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Time today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 min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2.6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27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With Syncy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min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0.7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Time saved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 min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Value saved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€9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€157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€1,890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estimates: 200 contacts a year (about 17 a month), €103 an hour. We time the 2 minutes live in the demo.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tx1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TO RUN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contact costs $0.00053 in AI. A customer’s whole year costs 11 cents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per contact, 60-second voice memo</a:t>
            </a:r>
            <a:endParaRPr lang="en-US" sz="1500" dirty="0"/>
          </a:p>
        </p:txBody>
      </p:sp>
      <p:graphicFrame>
        <p:nvGraphicFramePr>
          <p:cNvPr id="7" name="AI 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454396" cy="20574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API call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Usage (in + out)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Cost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Whisper transcription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60 seconds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$0.00018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Summary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800 + 120 tokens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$0.00014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Match + follow-up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1,200 + 180 tokens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$0.00021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 per contact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$0.00053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78728" y="2011680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 services, per year</a:t>
            </a:r>
            <a:endParaRPr lang="en-US" sz="1500" dirty="0"/>
          </a:p>
        </p:txBody>
      </p:sp>
      <p:graphicFrame>
        <p:nvGraphicFramePr>
          <p:cNvPr id="13" name="Fixed 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2377440"/>
          <a:ext cx="5454396" cy="2304288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6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Service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year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Supabase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Pro, up to 100k MAU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$300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Vercel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Pro, one seat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$240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Domain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Cloudflare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$10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Email, Google sign-in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Free tiers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 fixed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$550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484632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$0.11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596128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for one paying customer a year, at 200 contacts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383938" y="484632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$550</a:t>
            </a:r>
            <a:endParaRPr lang="en-US" sz="4400" dirty="0"/>
          </a:p>
        </p:txBody>
      </p:sp>
      <p:sp>
        <p:nvSpPr>
          <p:cNvPr id="11" name="Text 7"/>
          <p:cNvSpPr txBox="1"/>
          <p:nvPr/>
        </p:nvSpPr>
        <p:spPr>
          <a:xfrm>
            <a:off x="4383938" y="5596128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 services a year; $790 if email needs Resend Pro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19237" y="484632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€2k vs €11k</a:t>
            </a:r>
            <a:endParaRPr lang="en-US" sz="4400" dirty="0"/>
          </a:p>
        </p:txBody>
      </p:sp>
      <p:sp>
        <p:nvSpPr>
          <p:cNvPr id="5" name="Text 9"/>
          <p:cNvSpPr txBox="1"/>
          <p:nvPr/>
        </p:nvSpPr>
        <p:spPr>
          <a:xfrm>
            <a:off x="8219237" y="5596128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year-1 hosting and AI budget against year-1 revenue</a:t>
            </a:r>
            <a:endParaRPr lang="en-US" sz="1400" dirty="0"/>
          </a:p>
        </p:txBody>
      </p:sp>
      <p:sp>
        <p:nvSpPr>
          <p:cNvPr id="14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OpenRouter list prices, Oct 2026: GPT-6 Luna and Whisper Large V3 Turbo. The year-1 budget adds a 10× AI buffer and the free users. The MVP was built in 4 days.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79105" y="17785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THE SURVEY SAYS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179105" y="218998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[5 / 10]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693705" y="24185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often forget who someone was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179105" y="328726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[8 min]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5693705" y="35158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spent sorting contacts after an event, median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179105" y="43845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[_ / 10]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693705" y="46131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would pay €9 a month</a:t>
            </a:r>
            <a:endParaRPr lang="en-US" sz="1500" dirty="0"/>
          </a:p>
        </p:txBody>
      </p:sp>
      <p:sp>
        <p:nvSpPr>
          <p:cNvPr id="25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Survey: 10 people we know who go to events, a first signal, not proof. Targets from the Syncy business plan; 19 free users per paying user.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1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68547D-2975-B7FF-B6E9-ADAE8BA7C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BEE17435-07DA-3579-D90E-321C3594A8DA}"/>
              </a:ext>
            </a:extLst>
          </p:cNvPr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FUNDING</a:t>
            </a:r>
            <a:endParaRPr lang="en-US" sz="13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93CE3EB-235E-2BD0-6254-807FF6D01953}"/>
              </a:ext>
            </a:extLst>
          </p:cNvPr>
          <p:cNvSpPr txBox="1"/>
          <p:nvPr/>
        </p:nvSpPr>
        <p:spPr>
          <a:xfrm>
            <a:off x="3538935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 1 PLAN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07D6E05-4717-A039-0CBE-0F19CC6DAF38}"/>
              </a:ext>
            </a:extLst>
          </p:cNvPr>
          <p:cNvSpPr txBox="1"/>
          <p:nvPr/>
        </p:nvSpPr>
        <p:spPr>
          <a:xfrm>
            <a:off x="3538935" y="21214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 2026</a:t>
            </a:r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7532D82-7F29-E1BC-2DAD-F5F56D11D8AC}"/>
              </a:ext>
            </a:extLst>
          </p:cNvPr>
          <p:cNvSpPr txBox="1"/>
          <p:nvPr/>
        </p:nvSpPr>
        <p:spPr>
          <a:xfrm>
            <a:off x="4956255" y="2121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pilot users</a:t>
            </a:r>
            <a:endParaRPr lang="en-US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E748846-7684-0EC0-236B-DD636A99CF4C}"/>
              </a:ext>
            </a:extLst>
          </p:cNvPr>
          <p:cNvSpPr txBox="1"/>
          <p:nvPr/>
        </p:nvSpPr>
        <p:spPr>
          <a:xfrm>
            <a:off x="3538935" y="25786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Jun 2027</a:t>
            </a: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E7A0C8C-AB14-C3A8-9321-891665886ED4}"/>
              </a:ext>
            </a:extLst>
          </p:cNvPr>
          <p:cNvSpPr txBox="1"/>
          <p:nvPr/>
        </p:nvSpPr>
        <p:spPr>
          <a:xfrm>
            <a:off x="4956255" y="25786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Paid launch</a:t>
            </a:r>
            <a:endParaRPr lang="en-US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42B4870-A955-5FEF-3785-6727413EFA8A}"/>
              </a:ext>
            </a:extLst>
          </p:cNvPr>
          <p:cNvSpPr txBox="1"/>
          <p:nvPr/>
        </p:nvSpPr>
        <p:spPr>
          <a:xfrm>
            <a:off x="3538935" y="3035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Oct 2027</a:t>
            </a:r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EDB0802-3527-F7C6-C134-97DC3FF88DBE}"/>
              </a:ext>
            </a:extLst>
          </p:cNvPr>
          <p:cNvSpPr txBox="1"/>
          <p:nvPr/>
        </p:nvSpPr>
        <p:spPr>
          <a:xfrm>
            <a:off x="4956255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400 paying users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0E1E777-4A3A-51CA-1B8E-2FC34F5595F2}"/>
              </a:ext>
            </a:extLst>
          </p:cNvPr>
          <p:cNvSpPr txBox="1"/>
          <p:nvPr/>
        </p:nvSpPr>
        <p:spPr>
          <a:xfrm>
            <a:off x="3376477" y="3783823"/>
            <a:ext cx="1534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€11k</a:t>
            </a:r>
            <a:endParaRPr lang="en-US" sz="4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EE5609B-66C2-D4CA-247B-B96B9D02B659}"/>
              </a:ext>
            </a:extLst>
          </p:cNvPr>
          <p:cNvSpPr txBox="1"/>
          <p:nvPr/>
        </p:nvSpPr>
        <p:spPr>
          <a:xfrm>
            <a:off x="3376477" y="4561063"/>
            <a:ext cx="1396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revenue in year 1</a:t>
            </a:r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47E5198-72DF-7329-175E-464C2C18E6AE}"/>
              </a:ext>
            </a:extLst>
          </p:cNvPr>
          <p:cNvSpPr txBox="1"/>
          <p:nvPr/>
        </p:nvSpPr>
        <p:spPr>
          <a:xfrm>
            <a:off x="5322978" y="3708520"/>
            <a:ext cx="1534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€43k</a:t>
            </a:r>
            <a:endParaRPr lang="en-US" sz="4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40342E6-75B2-2006-4E95-54F3AF05081F}"/>
              </a:ext>
            </a:extLst>
          </p:cNvPr>
          <p:cNvSpPr txBox="1"/>
          <p:nvPr/>
        </p:nvSpPr>
        <p:spPr>
          <a:xfrm>
            <a:off x="5322978" y="4485760"/>
            <a:ext cx="1396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yearly run-rate at year end</a:t>
            </a:r>
            <a:endParaRPr lang="en-US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AC75A6F-7C38-8B49-3979-B1D9D9ECD378}"/>
              </a:ext>
            </a:extLst>
          </p:cNvPr>
          <p:cNvSpPr txBox="1"/>
          <p:nvPr/>
        </p:nvSpPr>
        <p:spPr>
          <a:xfrm>
            <a:off x="7244182" y="3783823"/>
            <a:ext cx="1534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8,000</a:t>
            </a:r>
            <a:endParaRPr lang="en-US" sz="48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D5F89B0-E494-6F82-B365-0743DBC5E9CC}"/>
              </a:ext>
            </a:extLst>
          </p:cNvPr>
          <p:cNvSpPr txBox="1"/>
          <p:nvPr/>
        </p:nvSpPr>
        <p:spPr>
          <a:xfrm>
            <a:off x="7244182" y="4561063"/>
            <a:ext cx="1396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users in total, 7,600 of them free</a:t>
            </a:r>
            <a:endParaRPr lang="en-US" dirty="0"/>
          </a:p>
        </p:txBody>
      </p:sp>
      <p:sp>
        <p:nvSpPr>
          <p:cNvPr id="25" name="Footnote">
            <a:extLst>
              <a:ext uri="{FF2B5EF4-FFF2-40B4-BE49-F238E27FC236}">
                <a16:creationId xmlns:a16="http://schemas.microsoft.com/office/drawing/2014/main" id="{2870B0AD-F44F-4599-F09D-C43F749B2716}"/>
              </a:ext>
            </a:extLst>
          </p:cNvPr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Survey: 10 people we know who go to events, a first signal, not proof. Targets from the Syncy business plan; 19 free users per paying user.</a:t>
            </a:r>
            <a:endParaRPr lang="en-US" sz="105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DA93482F-4F39-A73D-5414-5CC38AE145A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0908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servative scenario">
            <a:extLst>
              <a:ext uri="{FF2B5EF4-FFF2-40B4-BE49-F238E27FC236}">
                <a16:creationId xmlns:a16="http://schemas.microsoft.com/office/drawing/2014/main" id="{130D24D6-F882-0738-E3C0-2A15D11E26A3}"/>
              </a:ext>
            </a:extLst>
          </p:cNvPr>
          <p:cNvSpPr/>
          <p:nvPr/>
        </p:nvSpPr>
        <p:spPr>
          <a:xfrm>
            <a:off x="0" y="4526280"/>
            <a:ext cx="11658600" cy="1554468"/>
          </a:xfrm>
          <a:prstGeom prst="roundRect">
            <a:avLst>
              <a:gd name="adj" fmla="val 2254"/>
            </a:avLst>
          </a:prstGeom>
          <a:solidFill>
            <a:schemeClr val="tx2">
              <a:alpha val="37758"/>
            </a:schemeClr>
          </a:solidFill>
          <a:ln/>
        </p:spPr>
      </p:sp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€220k</a:t>
            </a:r>
            <a:endParaRPr lang="en-US" sz="1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the first 12 months, team of 4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Break-even at about 2,100 paying users. This round buys the proof that people pay.</a:t>
            </a:r>
            <a:endParaRPr lang="en-US" sz="1500" dirty="0"/>
          </a:p>
        </p:txBody>
      </p:sp>
      <p:graphicFrame>
        <p:nvGraphicFramePr>
          <p:cNvPr id="6" name="Use of funds chart"/>
          <p:cNvGraphicFramePr/>
          <p:nvPr>
            <p:extLst>
              <p:ext uri="{D42A27DB-BD31-4B8C-83A1-F6EECF244321}">
                <p14:modId xmlns:p14="http://schemas.microsoft.com/office/powerpoint/2010/main" val="586057027"/>
              </p:ext>
            </p:extLst>
          </p:nvPr>
        </p:nvGraphicFramePr>
        <p:xfrm>
          <a:off x="5467350" y="777239"/>
          <a:ext cx="6724650" cy="35661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25400">
            <a:solidFill>
              <a:schemeClr val="accent6">
                <a:lumMod val="40000"/>
                <a:lumOff val="60000"/>
                <a:alpha val="1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09160"/>
            <a:ext cx="2590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 2026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047488"/>
            <a:ext cx="2590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pilot users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322244" y="4709160"/>
            <a:ext cx="2590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Jun 2027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22244" y="5047488"/>
            <a:ext cx="2590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latin typeface="DM Sans" pitchFamily="34" charset="0"/>
                <a:ea typeface="DM Sans" pitchFamily="34" charset="-122"/>
                <a:cs typeface="DM Sans" pitchFamily="34" charset="-120"/>
              </a:rPr>
              <a:t>Paid 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095848" y="4709160"/>
            <a:ext cx="2590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Oct 2027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95848" y="5047488"/>
            <a:ext cx="2590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400 paying users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869451" y="4709160"/>
            <a:ext cx="2590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2028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869451" y="5047488"/>
            <a:ext cx="2590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plan, Austria, Switzerland</a:t>
            </a:r>
            <a:endParaRPr lang="en-US" sz="16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Founder salaries €2,500 a month. Year-1 cost €228k minus about €11k revenue. At Berlin market salaries the plan needs about €480k.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tx1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9" y="0"/>
            <a:ext cx="12192000" cy="6858000"/>
            <a:chOff x="0" y="0"/>
            <a:chExt cx="16256000" cy="914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56000" cy="9144000"/>
            </a:xfrm>
            <a:custGeom>
              <a:avLst/>
              <a:gdLst/>
              <a:ahLst/>
              <a:cxnLst/>
              <a:rect l="l" t="t" r="r" b="b"/>
              <a:pathLst>
                <a:path w="16256000" h="9144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812797" y="834190"/>
            <a:ext cx="10568245" cy="5477180"/>
            <a:chOff x="0" y="0"/>
            <a:chExt cx="14090993" cy="7302906"/>
          </a:xfrm>
        </p:grpSpPr>
        <p:sp>
          <p:nvSpPr>
            <p:cNvPr id="5" name="TextBox 5"/>
            <p:cNvSpPr txBox="1"/>
            <p:nvPr/>
          </p:nvSpPr>
          <p:spPr>
            <a:xfrm>
              <a:off x="0" y="19050"/>
              <a:ext cx="11986717" cy="17665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en-US" sz="1400" spc="26" dirty="0" err="1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asdasdasd</a:t>
              </a:r>
              <a:r>
                <a:rPr lang="en-US" sz="1400" spc="26" dirty="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 tools</a:t>
              </a:r>
            </a:p>
            <a:p>
              <a:pPr algn="l">
                <a:lnSpc>
                  <a:spcPts val="4410"/>
                </a:lnSpc>
              </a:pPr>
              <a:r>
                <a:rPr lang="en-US" sz="4200" spc="79" dirty="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One saves it. One stores it. Neither </a:t>
              </a:r>
            </a:p>
            <a:p>
              <a:pPr algn="l">
                <a:lnSpc>
                  <a:spcPts val="4410"/>
                </a:lnSpc>
              </a:pPr>
              <a:r>
                <a:rPr lang="en-US" sz="4200" spc="79" dirty="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tells you what to do.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06400" y="3352559"/>
              <a:ext cx="2467623" cy="2812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896"/>
                </a:lnSpc>
              </a:pPr>
              <a:r>
                <a:rPr lang="en-US" sz="6600" spc="125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SAVE</a:t>
              </a:r>
            </a:p>
            <a:p>
              <a:pPr algn="l">
                <a:lnSpc>
                  <a:spcPts val="3126"/>
                </a:lnSpc>
              </a:pPr>
              <a:r>
                <a:rPr lang="en-US" sz="1599" spc="3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HiHello · Blinq · Popl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192776" y="3352559"/>
              <a:ext cx="2945740" cy="2812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896"/>
                </a:lnSpc>
              </a:pPr>
              <a:r>
                <a:rPr lang="en-US" sz="6600" spc="125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STORE</a:t>
              </a:r>
            </a:p>
            <a:p>
              <a:pPr algn="l">
                <a:lnSpc>
                  <a:spcPts val="3126"/>
                </a:lnSpc>
              </a:pPr>
              <a:r>
                <a:rPr lang="en-US" sz="1599" spc="3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Dex · Covve · folk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979317" y="3695459"/>
              <a:ext cx="3379457" cy="24698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9240"/>
                </a:lnSpc>
              </a:pPr>
              <a:r>
                <a:rPr lang="en-US" sz="6600" spc="125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ACT</a:t>
              </a:r>
            </a:p>
            <a:p>
              <a:pPr algn="l">
                <a:lnSpc>
                  <a:spcPts val="2239"/>
                </a:lnSpc>
              </a:pPr>
              <a:r>
                <a:rPr lang="en-US" sz="1599" spc="3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Your next step, per project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053986"/>
              <a:ext cx="7059066" cy="248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9"/>
                </a:lnSpc>
              </a:pPr>
              <a:r>
                <a:rPr lang="en-US" sz="1200" spc="22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Competitor groups from public pricing and product pages, October 2026.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968476" y="7053986"/>
              <a:ext cx="122517" cy="248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9"/>
                </a:lnSpc>
              </a:pPr>
              <a:r>
                <a:rPr lang="en-US" sz="1200" spc="22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COMPETITION</a:t>
            </a:r>
            <a:endParaRPr lang="en-US" sz="3600" dirty="0"/>
          </a:p>
        </p:txBody>
      </p:sp>
      <p:graphicFrame>
        <p:nvGraphicFramePr>
          <p:cNvPr id="10" name="Competito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305206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1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Tool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AI voice notes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Matches your projects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Follow-up draft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Built for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Price a month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Syncy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from your Notion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One consultant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Popl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AI Recorder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next steps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Event teams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Sales-led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folk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recaps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Small-team CRM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€22–27 a seat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Blinq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AI Notetaker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Digital cards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$9.99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Dex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Voice mode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Personal CRM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$20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LinkedIn + notes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Manual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Everyone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Desk research of vendor pricing and help pages, 25 Oct 2026. "Not seen" = not found there. List prices; they change.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Free to try. €9 a month to keep</a:t>
            </a:r>
            <a:endParaRPr lang="en-US" sz="3400" dirty="0"/>
          </a:p>
        </p:txBody>
      </p:sp>
      <p:sp>
        <p:nvSpPr>
          <p:cNvPr id="4" name="Free plan"/>
          <p:cNvSpPr/>
          <p:nvPr/>
        </p:nvSpPr>
        <p:spPr>
          <a:xfrm>
            <a:off x="548640" y="210312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€0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forever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2936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event and up to 5 contacts a month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summary and follow-up drafts</a:t>
            </a:r>
            <a:endParaRPr lang="en-US" sz="1400" dirty="0"/>
          </a:p>
        </p:txBody>
      </p:sp>
      <p:sp>
        <p:nvSpPr>
          <p:cNvPr id="9" name="Pro plan"/>
          <p:cNvSpPr/>
          <p:nvPr/>
        </p:nvSpPr>
        <p:spPr>
          <a:xfrm>
            <a:off x="4353458" y="210312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2860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265176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€9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365760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month, €108 a year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4069080"/>
            <a:ext cx="2936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Unlimited contacts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Notion project import and matching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Contacts dashboard</a:t>
            </a:r>
            <a:endParaRPr lang="en-US" sz="1400" dirty="0"/>
          </a:p>
        </p:txBody>
      </p:sp>
      <p:sp>
        <p:nvSpPr>
          <p:cNvPr id="14" name="Team · 2028 plan"/>
          <p:cNvSpPr/>
          <p:nvPr/>
        </p:nvSpPr>
        <p:spPr>
          <a:xfrm>
            <a:off x="8158277" y="210312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32597" y="22860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32597" y="265176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€19</a:t>
            </a:r>
            <a:endParaRPr lang="en-US" sz="64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365760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seat a month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4069080"/>
            <a:ext cx="2936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contacts across a team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 to HubSpot or another CRM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€5,000 client project pays for </a:t>
            </a:r>
            <a:r>
              <a:rPr lang="en-US" sz="20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46 years of Pro.</a:t>
            </a:r>
            <a:endParaRPr lang="en-US" sz="2000" dirty="0"/>
          </a:p>
        </p:txBody>
      </p:sp>
      <p:sp>
        <p:nvSpPr>
          <p:cNvPr id="20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€5,000 project is an illustrative example. The Team price is a hypothesis we set after the Pro pilots.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GROSS MARGIN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88% gross margin from 1,000 paying users</a:t>
            </a:r>
            <a:endParaRPr lang="en-US" sz="3400" dirty="0"/>
          </a:p>
        </p:txBody>
      </p:sp>
      <p:graphicFrame>
        <p:nvGraphicFramePr>
          <p:cNvPr id="12" name="Margi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6949440" cy="33020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Paying users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Revenue a year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Cost per user a year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Gross margin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€10,800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€20.36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81%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400, year-1 target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€43,200 run-rate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€14–20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81–87%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€54,000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€14.10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87%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€108,000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€13.45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88%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€540,000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€12.75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88%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€1,080,000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€12.67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88%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909560" y="2103120"/>
            <a:ext cx="373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€108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852928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revenue per paying user a year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3383280"/>
            <a:ext cx="373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€13.45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4133088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to serve them, at 1,000 users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4663440"/>
            <a:ext cx="373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8,000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5413248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users at the end of year 1: 400 paying, 7,600 free</a:t>
            </a:r>
            <a:endParaRPr lang="en-US" sz="1400" dirty="0"/>
          </a:p>
        </p:txBody>
      </p:sp>
      <p:sp>
        <p:nvSpPr>
          <p:cNvPr id="11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per user: AI at 10× list price, AI for 19 free users per payer, Stripe fees on monthly billing, hosting; net of VAT. Team and marketing are on the Ask slide.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 3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scenarios for the year-3 revenue run-rate</a:t>
            </a:r>
            <a:endParaRPr lang="en-US" sz="3400" dirty="0"/>
          </a:p>
        </p:txBody>
      </p:sp>
      <p:sp>
        <p:nvSpPr>
          <p:cNvPr id="4" name="Conservative scenario"/>
          <p:cNvSpPr/>
          <p:nvPr/>
        </p:nvSpPr>
        <p:spPr>
          <a:xfrm>
            <a:off x="548640" y="205740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361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€324k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3,000 paying users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Germany, Notion users only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€285k gross profit</a:t>
            </a:r>
            <a:endParaRPr lang="en-US" sz="1400" dirty="0"/>
          </a:p>
        </p:txBody>
      </p:sp>
      <p:sp>
        <p:nvSpPr>
          <p:cNvPr id="10" name="Base scenario"/>
          <p:cNvSpPr/>
          <p:nvPr/>
        </p:nvSpPr>
        <p:spPr>
          <a:xfrm>
            <a:off x="4353458" y="205740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7778" y="224028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651760"/>
            <a:ext cx="29361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€972k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37947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9,000 paying users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605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DACH, adds Google Drive and Sheets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27778" y="47091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€855k gross profit</a:t>
            </a:r>
            <a:endParaRPr lang="en-US" sz="1400" dirty="0"/>
          </a:p>
        </p:txBody>
      </p:sp>
      <p:sp>
        <p:nvSpPr>
          <p:cNvPr id="16" name="Upside scenario"/>
          <p:cNvSpPr/>
          <p:nvPr/>
        </p:nvSpPr>
        <p:spPr>
          <a:xfrm>
            <a:off x="8158277" y="205740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Upside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2651760"/>
            <a:ext cx="29361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€2.16M</a:t>
            </a:r>
            <a:endParaRPr lang="en-US" sz="6600" dirty="0"/>
          </a:p>
        </p:txBody>
      </p:sp>
      <p:sp>
        <p:nvSpPr>
          <p:cNvPr id="19" name="Text 17"/>
          <p:cNvSpPr txBox="1"/>
          <p:nvPr/>
        </p:nvSpPr>
        <p:spPr>
          <a:xfrm>
            <a:off x="8432597" y="37947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20,000 paying users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432597" y="41605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EU expansion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32597" y="47091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€1.9M gross profit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Break-even is about 2,100 paying users. </a:t>
            </a:r>
            <a:r>
              <a:rPr lang="en-US" sz="18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 the conservative case clears it by year 3.</a:t>
            </a:r>
            <a:endParaRPr lang="en-US" sz="1800" dirty="0"/>
          </a:p>
        </p:txBody>
      </p:sp>
      <p:sp>
        <p:nvSpPr>
          <p:cNvPr id="23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outputs, not forecasts. €108 a year per paying user, 88% gross margin. User counts are set to span the range.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79120" y="731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Syncy</a:t>
            </a:r>
            <a:endParaRPr lang="en-US" sz="4000" dirty="0"/>
          </a:p>
        </p:txBody>
      </p:sp>
      <p:sp>
        <p:nvSpPr>
          <p:cNvPr id="5" name="Motto"/>
          <p:cNvSpPr txBox="1"/>
          <p:nvPr/>
        </p:nvSpPr>
        <p:spPr>
          <a:xfrm>
            <a:off x="579120" y="26974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more wincing at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“who was that?”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66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Thank you. Questions?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Syncy · BCBT AI Entrepreneurship Hackathon · CIC Berlin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197050-45E6-6EF8-750C-69220B821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662" y="996950"/>
            <a:ext cx="4178300" cy="4864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yncy">
  <a:themeElements>
    <a:clrScheme name="Syncy">
      <a:dk1>
        <a:srgbClr val="15110E"/>
      </a:dk1>
      <a:lt1>
        <a:srgbClr val="F7F0E4"/>
      </a:lt1>
      <a:dk2>
        <a:srgbClr val="241D17"/>
      </a:dk2>
      <a:lt2>
        <a:srgbClr val="EADFCB"/>
      </a:lt2>
      <a:accent1>
        <a:srgbClr val="FF6B1A"/>
      </a:accent1>
      <a:accent2>
        <a:srgbClr val="FFC93C"/>
      </a:accent2>
      <a:accent3>
        <a:srgbClr val="C2410C"/>
      </a:accent3>
      <a:accent4>
        <a:srgbClr val="CFC5B5"/>
      </a:accent4>
      <a:accent5>
        <a:srgbClr val="5A4F43"/>
      </a:accent5>
      <a:accent6>
        <a:srgbClr val="8F8575"/>
      </a:accent6>
      <a:hlink>
        <a:srgbClr val="C2410C"/>
      </a:hlink>
      <a:folHlink>
        <a:srgbClr val="8F8575"/>
      </a:folHlink>
    </a:clrScheme>
    <a:fontScheme name="Syncy">
      <a:majorFont>
        <a:latin typeface="DM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Syncy">
    <a:dk1>
      <a:srgbClr val="15110E"/>
    </a:dk1>
    <a:lt1>
      <a:srgbClr val="F7F0E4"/>
    </a:lt1>
    <a:dk2>
      <a:srgbClr val="241D17"/>
    </a:dk2>
    <a:lt2>
      <a:srgbClr val="EADFCB"/>
    </a:lt2>
    <a:accent1>
      <a:srgbClr val="FF6B1A"/>
    </a:accent1>
    <a:accent2>
      <a:srgbClr val="FFC93C"/>
    </a:accent2>
    <a:accent3>
      <a:srgbClr val="C2410C"/>
    </a:accent3>
    <a:accent4>
      <a:srgbClr val="CFC5B5"/>
    </a:accent4>
    <a:accent5>
      <a:srgbClr val="5A4F43"/>
    </a:accent5>
    <a:accent6>
      <a:srgbClr val="8F8575"/>
    </a:accent6>
    <a:hlink>
      <a:srgbClr val="C2410C"/>
    </a:hlink>
    <a:folHlink>
      <a:srgbClr val="8F857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</TotalTime>
  <Words>2693</Words>
  <Application>Microsoft Macintosh PowerPoint</Application>
  <PresentationFormat>Widescreen</PresentationFormat>
  <Paragraphs>342</Paragraphs>
  <Slides>16</Slides>
  <Notes>15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DM Sans</vt:lpstr>
      <vt:lpstr>IBM Plex Sans Condensed</vt:lpstr>
      <vt:lpstr>Oswald</vt:lpstr>
      <vt:lpstr>Syncy</vt:lpstr>
      <vt:lpstr>PowerPoint Presentation</vt:lpstr>
      <vt:lpstr>You meet 200 people a year.  A week later, most are just a name</vt:lpstr>
      <vt:lpstr>PowerPoint Presentation</vt:lpstr>
      <vt:lpstr>5 steps. 4 apps.</vt:lpstr>
      <vt:lpstr>PowerPoint Presentation</vt:lpstr>
      <vt:lpstr>18 hours and €1,890 back per person, every year</vt:lpstr>
      <vt:lpstr>One contact costs $0.00053 in AI. A customer’s whole year costs 11 cents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Free to try. €9 a month to keep</vt:lpstr>
      <vt:lpstr>88% gross margin from 1,000 paying users</vt:lpstr>
      <vt:lpstr>Three scenarios for the year-3 revenue run-rate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Syncy pitch deck</dc:title>
  <dc:subject>PptxGenJS Presentation</dc:subject>
  <dc:creator>PptxGenJS</dc:creator>
  <cp:lastModifiedBy>Nodirbek Saidov</cp:lastModifiedBy>
  <cp:revision>3</cp:revision>
  <dcterms:created xsi:type="dcterms:W3CDTF">2026-10-25T14:46:26Z</dcterms:created>
  <dcterms:modified xsi:type="dcterms:W3CDTF">2026-10-25T17:58:30Z</dcterms:modified>
</cp:coreProperties>
</file>