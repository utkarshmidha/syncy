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modernComment_105_0.xml" ContentType="application/vnd.ms-powerpoint.comments+xml"/>
  <Override PartName="/ppt/theme/themeOverride1.xml" ContentType="application/vnd.openxmlformats-officedocument.themeOverr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omments/modernComment_108_5365FD52.xml" ContentType="application/vnd.ms-powerpoint.comments+xml"/>
  <Override PartName="/ppt/notesSlides/notesSlide14.xml" ContentType="application/vnd.openxmlformats-officedocument.presentationml.notesSlide+xml"/>
  <Override PartName="/ppt/comments/modernComment_113_271BB12.xml" ContentType="application/vnd.ms-powerpoint.comment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omments/modernComment_106_0.xml" ContentType="application/vnd.ms-powerpoint.comments+xml"/>
  <Override PartName="/ppt/theme/themeOverride4.xml" ContentType="application/vnd.openxmlformats-officedocument.themeOverr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2.xml" ContentType="application/vnd.openxmlformats-officedocument.drawingml.chart+xml"/>
  <Override PartName="/ppt/notesSlides/notesSlide1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70" r:id="rId4"/>
    <p:sldId id="258" r:id="rId5"/>
    <p:sldId id="260" r:id="rId6"/>
    <p:sldId id="261" r:id="rId7"/>
    <p:sldId id="277" r:id="rId8"/>
    <p:sldId id="265" r:id="rId9"/>
    <p:sldId id="266" r:id="rId10"/>
    <p:sldId id="271" r:id="rId11"/>
    <p:sldId id="263" r:id="rId12"/>
    <p:sldId id="268" r:id="rId13"/>
    <p:sldId id="259" r:id="rId14"/>
    <p:sldId id="272" r:id="rId15"/>
    <p:sldId id="264" r:id="rId16"/>
    <p:sldId id="275" r:id="rId17"/>
    <p:sldId id="273" r:id="rId18"/>
    <p:sldId id="262" r:id="rId19"/>
    <p:sldId id="274" r:id="rId20"/>
    <p:sldId id="276" r:id="rId21"/>
    <p:sldId id="267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D734A1C3-EC69-7B21-A0E5-3BABAF683651}">
          <p14:sldIdLst>
            <p14:sldId id="256"/>
          </p14:sldIdLst>
        </p14:section>
        <p14:section name="Problem and product" id="{C1287A39-F303-8FA9-6AA1-9B1B995C0911}">
          <p14:sldIdLst>
            <p14:sldId id="257"/>
            <p14:sldId id="270"/>
            <p14:sldId id="258"/>
            <p14:sldId id="260"/>
          </p14:sldIdLst>
        </p14:section>
        <p14:section name="Demo" id="{234433C5-4A38-F292-AF73-3ACB326DDDB5}">
          <p14:sldIdLst/>
        </p14:section>
        <p14:section name="Business" id="{4AF2868E-4734-AD7F-2B4B-8C2D2AD6563D}">
          <p14:sldIdLst>
            <p14:sldId id="261"/>
            <p14:sldId id="277"/>
            <p14:sldId id="265"/>
            <p14:sldId id="266"/>
            <p14:sldId id="271"/>
            <p14:sldId id="263"/>
            <p14:sldId id="268"/>
            <p14:sldId id="259"/>
            <p14:sldId id="272"/>
            <p14:sldId id="264"/>
            <p14:sldId id="275"/>
            <p14:sldId id="273"/>
            <p14:sldId id="262"/>
            <p14:sldId id="274"/>
            <p14:sldId id="276"/>
          </p14:sldIdLst>
        </p14:section>
        <p14:section name="Market" id="{6D006C21-5AC2-917E-2826-869DD3D0D75E}">
          <p14:sldIdLst>
            <p14:sldId id="267"/>
          </p14:sldIdLst>
        </p14:section>
        <p14:section name="Close" id="{90F995DF-9AA4-B665-0BC7-AAC94116024A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57B4B64-0625-02AB-4A1C-BDE4BBCB8117}" name="Nodirbek Saidov" initials="NS" userId="Nodirbek Saidov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DFCB"/>
    <a:srgbClr val="FFC9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8640"/>
    <p:restoredTop sz="96301"/>
  </p:normalViewPr>
  <p:slideViewPr>
    <p:cSldViewPr snapToGrid="0" snapToObjects="1">
      <p:cViewPr varScale="1">
        <p:scale>
          <a:sx n="77" d="100"/>
          <a:sy n="77" d="100"/>
        </p:scale>
        <p:origin x="216" y="12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3316716855152313"/>
          <c:y val="0.11228654519309744"/>
          <c:w val="0.6683283144847687"/>
          <c:h val="0.8485395887389015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 (€k)</c:v>
                </c:pt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Lbls>
            <c:dLbl>
              <c:idx val="1"/>
              <c:tx>
                <c:rich>
                  <a:bodyPr/>
                  <a:lstStyle/>
                  <a:p>
                    <a:fld id="{CBFE094C-43A5-4180-9FEB-F993D98C49EE}" type="VALUE">
                      <a:rPr lang="en-US">
                        <a:solidFill>
                          <a:schemeClr val="accent2"/>
                        </a:solidFill>
                      </a:rPr>
                      <a:pPr/>
                      <a:t>[VALUE]</a:t>
                    </a:fld>
                    <a:endParaRPr lang="en-DE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6F6C-4AB9-A219-EFCD9DFBB30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2A95C5EC-18D8-4D9A-8C9D-09466BE812DD}" type="VALUE">
                      <a:rPr lang="en-US">
                        <a:solidFill>
                          <a:schemeClr val="accent2"/>
                        </a:solidFill>
                      </a:rPr>
                      <a:pPr/>
                      <a:t>[VALUE]</a:t>
                    </a:fld>
                    <a:endParaRPr lang="en-DE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6F6C-4AB9-A219-EFCD9DFBB307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16B1E49E-7C39-4ABD-B897-1F5C11F320A5}" type="VALUE">
                      <a:rPr lang="en-US">
                        <a:solidFill>
                          <a:schemeClr val="accent2"/>
                        </a:solidFill>
                      </a:rPr>
                      <a:pPr/>
                      <a:t>[VALUE]</a:t>
                    </a:fld>
                    <a:endParaRPr lang="en-DE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6F6C-4AB9-A219-EFCD9DFBB307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A3A49ACE-4657-45F9-8199-17A27398D560}" type="VALUE">
                      <a:rPr lang="en-US">
                        <a:solidFill>
                          <a:schemeClr val="accent2"/>
                        </a:solidFill>
                      </a:rPr>
                      <a:pPr/>
                      <a:t>[VALUE]</a:t>
                    </a:fld>
                    <a:endParaRPr lang="en-DE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6F6C-4AB9-A219-EFCD9DFBB307}"/>
                </c:ext>
              </c:extLst>
            </c:dLbl>
            <c:numFmt formatCode="&quot;€&quot;0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chemeClr val="accent2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Team of 4</c:v>
                </c:pt>
                <c:pt idx="1">
                  <c:v>Contingency, 15%</c:v>
                </c:pt>
                <c:pt idx="2">
                  <c:v>Setup, legal, tools, office</c:v>
                </c:pt>
                <c:pt idx="3">
                  <c:v>Marketing and events</c:v>
                </c:pt>
                <c:pt idx="4">
                  <c:v>Hosting and AI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144</c:v>
                </c:pt>
                <c:pt idx="1">
                  <c:v>30</c:v>
                </c:pt>
                <c:pt idx="2">
                  <c:v>28</c:v>
                </c:pt>
                <c:pt idx="3">
                  <c:v>24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5B-4DFA-999A-E7E65DE3774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chemeClr val="accent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5110E"/>
                </a:solidFill>
                <a:latin typeface="+mn-lt"/>
              </a:defRPr>
            </a:pPr>
            <a:r>
              <a:rPr lang="en-IN" sz="2000" b="1" i="0" u="none" strike="noStrike" dirty="0">
                <a:solidFill>
                  <a:srgbClr val="15110E"/>
                </a:solidFill>
                <a:latin typeface="+mn-lt"/>
              </a:rPr>
              <a:t>Use of funds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3316716855152313"/>
          <c:y val="0.11228654519309744"/>
          <c:w val="0.6683283144847687"/>
          <c:h val="0.8485395887389015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 (€k)</c:v>
                </c:pt>
              </c:strCache>
            </c:strRef>
          </c:tx>
          <c:spPr>
            <a:solidFill>
              <a:srgbClr val="15110E"/>
            </a:solidFill>
            <a:effectLst/>
          </c:spPr>
          <c:invertIfNegative val="0"/>
          <c:dLbls>
            <c:dLbl>
              <c:idx val="0"/>
              <c:numFmt formatCode="&quot;€&quot;0&quot;k&quot;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400" b="1" i="0" u="none" strike="noStrike">
                      <a:solidFill>
                        <a:schemeClr val="tx1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6F6C-4AB9-A219-EFCD9DFBB30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CBFE094C-43A5-4180-9FEB-F993D98C49EE}" type="VALUE">
                      <a:rPr lang="en-US">
                        <a:solidFill>
                          <a:schemeClr val="tx1"/>
                        </a:solidFill>
                      </a:rPr>
                      <a:pPr/>
                      <a:t>[VALUE]</a:t>
                    </a:fld>
                    <a:endParaRPr lang="en-DE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6F6C-4AB9-A219-EFCD9DFBB30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2A95C5EC-18D8-4D9A-8C9D-09466BE812DD}" type="VALUE">
                      <a:rPr lang="en-US">
                        <a:solidFill>
                          <a:schemeClr val="tx1"/>
                        </a:solidFill>
                      </a:rPr>
                      <a:pPr/>
                      <a:t>[VALUE]</a:t>
                    </a:fld>
                    <a:endParaRPr lang="en-DE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6F6C-4AB9-A219-EFCD9DFBB307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16B1E49E-7C39-4ABD-B897-1F5C11F320A5}" type="VALUE">
                      <a:rPr lang="en-US">
                        <a:solidFill>
                          <a:schemeClr val="tx1"/>
                        </a:solidFill>
                      </a:rPr>
                      <a:pPr/>
                      <a:t>[VALUE]</a:t>
                    </a:fld>
                    <a:endParaRPr lang="en-DE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6F6C-4AB9-A219-EFCD9DFBB307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A3A49ACE-4657-45F9-8199-17A27398D560}" type="VALUE">
                      <a:rPr lang="en-US">
                        <a:solidFill>
                          <a:schemeClr val="tx1"/>
                        </a:solidFill>
                      </a:rPr>
                      <a:pPr/>
                      <a:t>[VALUE]</a:t>
                    </a:fld>
                    <a:endParaRPr lang="en-DE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6F6C-4AB9-A219-EFCD9DFBB307}"/>
                </c:ext>
              </c:extLst>
            </c:dLbl>
            <c:numFmt formatCode="&quot;€&quot;0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chemeClr val="accent2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Team of 4</c:v>
                </c:pt>
                <c:pt idx="1">
                  <c:v>Contingency, 15%</c:v>
                </c:pt>
                <c:pt idx="2">
                  <c:v>Setup, legal, tools, office</c:v>
                </c:pt>
                <c:pt idx="3">
                  <c:v>Marketing and events</c:v>
                </c:pt>
                <c:pt idx="4">
                  <c:v>Hosting and AI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144</c:v>
                </c:pt>
                <c:pt idx="1">
                  <c:v>30</c:v>
                </c:pt>
                <c:pt idx="2">
                  <c:v>28</c:v>
                </c:pt>
                <c:pt idx="3">
                  <c:v>24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5B-4DFA-999A-E7E65DE3774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5110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omments/modernComment_105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8DCC419-8B68-7844-ABFC-5545655406FF}" authorId="{D57B4B64-0625-02AB-4A1C-BDE4BBCB8117}" created="2026-10-25T17:33:53.514">
    <pc:sldMkLst xmlns:pc="http://schemas.microsoft.com/office/powerpoint/2013/main/command">
      <pc:docMk/>
      <pc:sldMk cId="0" sldId="261"/>
    </pc:sldMkLst>
    <p188:txBody>
      <a:bodyPr/>
      <a:lstStyle/>
      <a:p>
        <a:r>
          <a:rPr lang="en-DE"/>
          <a:t>@bhuva slim slide out</a:t>
        </a:r>
      </a:p>
    </p188:txBody>
  </p188:cm>
</p188:cmLst>
</file>

<file path=ppt/comments/modernComment_106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200F41E-1D6D-C44A-B847-2D4CBF38CC20}" authorId="{D57B4B64-0625-02AB-4A1C-BDE4BBCB8117}" created="2026-10-25T17:36:37.777">
    <pc:sldMkLst xmlns:pc="http://schemas.microsoft.com/office/powerpoint/2013/main/command">
      <pc:docMk/>
      <pc:sldMk cId="0" sldId="262"/>
    </pc:sldMkLst>
    <p188:txBody>
      <a:bodyPr/>
      <a:lstStyle/>
      <a:p>
        <a:r>
          <a:rPr lang="en-DE"/>
          <a:t>either Ana or Bhuva</a:t>
        </a:r>
      </a:p>
    </p188:txBody>
  </p188:cm>
</p188:cmLst>
</file>

<file path=ppt/comments/modernComment_108_5365FD5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8E50F47-1E7B-DF4B-B4BC-F2785C23ED3C}" authorId="{D57B4B64-0625-02AB-4A1C-BDE4BBCB8117}" created="2026-10-25T17:49:24.320">
    <pc:sldMkLst xmlns:pc="http://schemas.microsoft.com/office/powerpoint/2013/main/command">
      <pc:docMk/>
      <pc:sldMk cId="0" sldId="264"/>
    </pc:sldMkLst>
    <p188:txBody>
      <a:bodyPr/>
      <a:lstStyle/>
      <a:p>
        <a:r>
          <a:rPr lang="en-DE"/>
          <a:t>click and hide</a:t>
        </a:r>
      </a:p>
    </p188:txBody>
  </p188:cm>
</p188:cmLst>
</file>

<file path=ppt/comments/modernComment_113_271BB1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9A348BE-A340-6644-B9B3-4A1F04757AC8}" authorId="{D57B4B64-0625-02AB-4A1C-BDE4BBCB8117}" created="2026-10-25T17:33:53.514">
    <pc:sldMkLst xmlns:pc="http://schemas.microsoft.com/office/powerpoint/2013/main/command">
      <pc:docMk/>
      <pc:sldMk cId="0" sldId="261"/>
    </pc:sldMkLst>
    <p188:txBody>
      <a:bodyPr/>
      <a:lstStyle/>
      <a:p>
        <a:r>
          <a:rPr lang="en-DE"/>
          <a:t>@bhuva slim slide out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4008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[0:00–0:20] Open with the question: "Hands up if you have opened LinkedIn after an event and had no idea who someone was." Then: "We are Syncy." Name the team in one breath, then thank the mentor by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[0:20–1:05] A consultant who goes to two events a month meets about 200 people a year. Doing the follow-up properly takes about 8 minutes each: write down what was said, find the profile again, decide which project they matter for, write a personal message. That is 27 hours a year, about €2,780 of billable time at the €103 average rate. Most people skip it, and the contact is lost. Read the survey count out loud (fill the bracket first). Then the solution in one sentence: scan, talk for 20 seconds, get a follow-up matched to your own projects.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600A3-AB53-D86D-4BE8-CBF15C57D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0D6F4B-FC4D-C576-7A6D-CEDF9D2E63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DB7C38-A286-1E91-16D4-77560101F0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[0:20–1:05] A consultant who goes to two events a month meets about 200 people a year. Doing the follow-up properly takes about 8 minutes each: write down what was said, find the profile again, decide which project they matter for, write a personal message. That is 27 hours a year, about €2,780 of billable time at the €103 average rate. Most people skip it, and the contact is lost. Read the survey count out loud (fill the bracket first). Then the solution in one sentence: scan, talk for 20 seconds, get a follow-up matched to your own projects.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8316D-D899-F7C2-A442-EE18E110BC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0963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[1:05–1:45] Today the follow-up is five manual steps across LinkedIn, a notes app, Notion and email. With Syncy it is three: scan, talk, review. The AI does four jobs: transcribes the memo, summarises it, matches the person to one of your own Notion projects with a reason, and drafts the follow-up. Be precise about Notion: we import your projects from Notion; the contacts live in Syncy. Nothing is sent without your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[3:50–4:25] Every contact makes three AI calls: transcription, summary, and the project match with the follow-up draft. At today’s list prices that is $0.00053 for a full 60-second memo. A paying customer with 200 contacts a year costs about 11 cents in AI. Fixed services are about $550 a year, and Supabase Pro carries up to 100,000 monthly active users. In the business plan we budget €2,000 for hosting and AI in year one, with a 10× buffer, against about €11,000 of revenue. Running cost is not our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[6:15–6:35] Free gets people to the first event: one event and up to 25 contacts a month. Pro is €9 a month, €108 a year, with unlimited contacts and the Notion project matching. The team plan at €19 a seat comes in 2028. One won client project of €5,000 pays for 46 years of Pro.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5207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[6:35–7:05] Each paying user brings €108 a year. Serving them costs about €13 at 1,000 users, even with AI budgeted at ten times the list price and the free users they bring. That is 88% gross margin from 1,000 users on. At our year-one target of 400 paying users we sit between 81% and 87%, with about 8,000 users in total. Most of the €13 is Stripe fees on monthly billing and the free users, not our own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789DA-3D36-C073-04A4-66545F61D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E393B3-26C0-5306-C3F8-D13636A94E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9237AA-83B6-A738-29AF-AF113ECB40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[4:25–5:00] FILL THE BRACKETS FROM THE SURVEY BEFORE PRESENTING, and never round up. Say plainly: 10 people we know, a first signal, not proof. Then the plan: 20 pilot users in December, paid launch in June, 400 paying users by October 2027. That is about €11,000 of revenue in year one and a €43,000 yearly run-rate at the end (400 × €108). With 19 free users per payer we carry about 8,000 users in total.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41B818-44E8-98B3-DA47-1DC1B7DF95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9344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[5:00–5:40] We ask for €220,000 for the first 12 months with a team of four on €2,500 a month each. Year one costs about €228,000; we expect about €11,000 of revenue. Two thirds goes to the team, then contingency, setup and legal, marketing and events. Hosting and AI is only €2,000. The milestones: 20 pilots in December, paid launch in June, 400 paying users by October 2027, then the team plan and Austria and Switzerland in 2028. Break-even is about 2,100 paying users. AGREE BEFOREHAND which four people are paid and stay on full-time; investors will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[7:40–8:00] Close on the motto and the ask in one line: "€220,000 to prove consultants pay for a follow-up that knows their projects." Then stop and take questions. Likely questions: why €9, what stops folk or Popl adding project matching, what the survey showed, and who stays full-time.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7433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[1:45–2:20] Per contact, Syncy cuts 8 minutes to about 2.5 minutes of checking and sending. That is 1.5 hours a month and 18 hours a year, worth about €1,890 of billable time. Pro costs €108 a year, so it pays back about 17 times. Careful: 27 hours is what follow-up costs today, not what we save. The saving is 18 hours. Both minute figures are estimates; the demo shows the real time from scan to saved contact.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5505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[5:40–6:15] Be honest here, it wins trust: Popl, folk and Blinq already offer AI voice notes, and folk and Popl give next steps. What none of them does is match a new contact to the projects you are actually working on. Our biggest competitor is free: LinkedIn plus a notes app. We win only by saving real time after every event. Re-check Dex and Popl the morning of the pitch for new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0684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1233A-9054-35C4-635C-612E7A68B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0A5D71-6961-F6AB-A286-F654154371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3D637E-6532-D09E-6D3E-221456AEE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[3:50–4:25] Every contact makes three AI calls: transcription, summary, and the project match with the follow-up draft. At today’s list prices that is $0.00053 for a full 60-second memo. A paying customer with 200 contacts a year costs about 11 cents in AI. Fixed services are about $550 a year, and Supabase Pro carries up to 100,000 monthly active users. In the business plan we budget €2,000 for hosting and AI in year one, with a 10× buffer, against about €11,000 of revenue. Running cost is not our risk.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87B334-81C4-762D-CBC9-04B36C8E10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3687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3011B-0CB7-0074-0D04-29230C023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03A807-EAFD-2D04-37E7-A36E361096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F762A7-BB84-B146-0437-8433093C69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[3:50–4:25] Every contact makes three AI calls: transcription, summary, and the project match with the follow-up draft. At today’s list prices that is $0.00053 for a full 60-second memo. A paying customer with 200 contacts a year costs about 11 cents in AI. Fixed services are about $550 a year, and Supabase Pro carries up to 100,000 monthly active users. In the business plan we budget €2,000 for hosting and AI in year one, with a 10× buffer, against about €11,000 of revenue. Running cost is not our risk.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631117-567C-B56B-1ABE-08D2DE628B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0333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[4:25–5:00] FILL THE BRACKETS FROM THE SURVEY BEFORE PRESENTING, and never round up. Say plainly: 10 people we know, a first signal, not proof. Then the plan: 20 pilot users in December, paid launch in June, 400 paying users by October 2027. That is about €11,000 of revenue in year one and a €43,000 yearly run-rate at the end (400 × €108). With 19 free users per payer we carry about 8,000 users in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4D9F6-DA11-5D35-3C6B-8AC54583F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0B8B03-67D9-93B6-7902-9E7A38012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21209B-7A0D-1C5A-8EEA-D35EBB60D3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[4:25–5:00] FILL THE BRACKETS FROM THE SURVEY BEFORE PRESENTING, and never round up. Say plainly: 10 people we know, a first signal, not proof. Then the plan: 20 pilot users in December, paid launch in June, 400 paying users by October 2027. That is about €11,000 of revenue in year one and a €43,000 yearly run-rate at the end (400 × €108). With 19 free users per payer we carry about 8,000 users in total.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D8F3B8-4C97-C5B1-D944-69486A6655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4833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B5D46-28AF-C106-671F-A3E77562E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91BF1E-329A-0E55-B4F1-6E7B247E66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71D77B-6353-DEB8-D28A-B9482BD99D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[5:00–5:40] We ask for €220,000 for the first 12 months with a team of four on €2,500 a month each. Year one costs about €228,000; we expect about €11,000 of revenue. Two thirds goes to the team, then contingency, setup and legal, marketing and events. Hosting and AI is only €2,000. The milestones: 20 pilots in December, paid launch in June, 400 paying users by October 2027, then the team plan and Austria and Switzerland in 2028. Break-even is about 2,100 paying users. AGREE BEFOREHAND which four people are paid and stay on full-time; investors will ask.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F89C21-3F60-1040-3864-BFDC872F1B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156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[7:05–7:40] Three scenarios for where we are in year three. Conservative: 3,000 paying users in Germany, €324,000 a year. Base: 9,000 users across DACH once we add Google Drive and Sheets, about €970,000. Upside: 20,000 users with EU expansion, €2.16 million. Break-even is about 2,100 paying users, so even the conservative case clears it. These are model outputs, not forecasts.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511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94415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50">
                <a:solidFill>
                  <a:schemeClr val="accent6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94415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50">
                <a:solidFill>
                  <a:schemeClr val="accent5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RANGE">
    <p:bg>
      <p:bgPr>
        <a:solidFill>
          <a:srgbClr val="FF6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94415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50">
                <a:solidFill>
                  <a:schemeClr val="tx1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511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610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50">
                <a:solidFill>
                  <a:schemeClr val="accent6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5_0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3.xml"/><Relationship Id="rId4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8_5365FD5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3_271BB1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6_0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F6FB55B0-9C8C-C616-3A43-32D1706BC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897" y="525272"/>
            <a:ext cx="4076700" cy="3937000"/>
          </a:xfrm>
          <a:prstGeom prst="rect">
            <a:avLst/>
          </a:prstGeom>
        </p:spPr>
      </p:pic>
      <p:sp>
        <p:nvSpPr>
          <p:cNvPr id="4" name="Text 2"/>
          <p:cNvSpPr txBox="1"/>
          <p:nvPr/>
        </p:nvSpPr>
        <p:spPr>
          <a:xfrm>
            <a:off x="548640" y="662940"/>
            <a:ext cx="4206926" cy="564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Syncy</a:t>
            </a:r>
            <a:endParaRPr lang="en-US" sz="4000" dirty="0"/>
          </a:p>
        </p:txBody>
      </p:sp>
      <p:sp>
        <p:nvSpPr>
          <p:cNvPr id="5" name="Motto"/>
          <p:cNvSpPr txBox="1"/>
          <p:nvPr/>
        </p:nvSpPr>
        <p:spPr>
          <a:xfrm>
            <a:off x="548640" y="182880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more wincing at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“who was that?”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556661" y="39455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chemeClr val="accent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</a:t>
            </a:r>
            <a:endParaRPr lang="en-US" sz="2400" dirty="0"/>
          </a:p>
        </p:txBody>
      </p:sp>
      <p:sp>
        <p:nvSpPr>
          <p:cNvPr id="8" name="Team member 1"/>
          <p:cNvSpPr/>
          <p:nvPr/>
        </p:nvSpPr>
        <p:spPr>
          <a:xfrm>
            <a:off x="548640" y="4343400"/>
            <a:ext cx="205740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4480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Nodirbek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48646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 &amp; frontend</a:t>
            </a:r>
            <a:endParaRPr lang="en-US" sz="1200" dirty="0"/>
          </a:p>
        </p:txBody>
      </p:sp>
      <p:sp>
        <p:nvSpPr>
          <p:cNvPr id="11" name="Team member 2"/>
          <p:cNvSpPr/>
          <p:nvPr/>
        </p:nvSpPr>
        <p:spPr>
          <a:xfrm>
            <a:off x="2807894" y="4343400"/>
            <a:ext cx="205740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972486" y="4480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Utkarsh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972486" y="48646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Backend &amp; AI</a:t>
            </a:r>
            <a:endParaRPr lang="en-US" sz="1200" dirty="0"/>
          </a:p>
        </p:txBody>
      </p:sp>
      <p:sp>
        <p:nvSpPr>
          <p:cNvPr id="14" name="Team member 3"/>
          <p:cNvSpPr/>
          <p:nvPr/>
        </p:nvSpPr>
        <p:spPr>
          <a:xfrm>
            <a:off x="5067148" y="4343400"/>
            <a:ext cx="205740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231740" y="4480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Bhuvanesh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231740" y="48646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&amp; cost model</a:t>
            </a:r>
            <a:endParaRPr lang="en-US" sz="1200" dirty="0"/>
          </a:p>
        </p:txBody>
      </p:sp>
      <p:sp>
        <p:nvSpPr>
          <p:cNvPr id="17" name="Team member 4"/>
          <p:cNvSpPr/>
          <p:nvPr/>
        </p:nvSpPr>
        <p:spPr>
          <a:xfrm>
            <a:off x="7326401" y="4343400"/>
            <a:ext cx="205740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90993" y="4480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Anastasiya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490993" y="48646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Research &amp; go-to-market</a:t>
            </a:r>
            <a:endParaRPr lang="en-US" sz="1200" dirty="0"/>
          </a:p>
        </p:txBody>
      </p:sp>
      <p:sp>
        <p:nvSpPr>
          <p:cNvPr id="20" name="Team member 5"/>
          <p:cNvSpPr/>
          <p:nvPr/>
        </p:nvSpPr>
        <p:spPr>
          <a:xfrm>
            <a:off x="9585655" y="4343400"/>
            <a:ext cx="205740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750247" y="4480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Sadaf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750247" y="48646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Economics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577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00" b="1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Mentor: </a:t>
            </a:r>
            <a:r>
              <a:rPr lang="en-US" sz="1500" dirty="0">
                <a:solidFill>
                  <a:schemeClr val="accent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Bita 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035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BCBT AI Entrepreneurship Hackathon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4185" y="982980"/>
            <a:ext cx="110944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meet 200 people a year. </a:t>
            </a:r>
            <a:br>
              <a:rPr lang="en-US" sz="3400" b="1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</a:br>
            <a:r>
              <a:rPr lang="en-US" sz="3400" b="1" dirty="0">
                <a:solidFill>
                  <a:schemeClr val="accent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week later, most are just a name</a:t>
            </a:r>
            <a:endParaRPr lang="en-US" sz="3400" dirty="0">
              <a:solidFill>
                <a:schemeClr val="accent1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64185" y="3049524"/>
            <a:ext cx="34238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spc="300" dirty="0">
                <a:solidFill>
                  <a:schemeClr val="bg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27</a:t>
            </a:r>
            <a:r>
              <a:rPr lang="en-US" sz="6600" b="1" dirty="0">
                <a:solidFill>
                  <a:schemeClr val="bg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h 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564185" y="4517136"/>
            <a:ext cx="3423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</a:t>
            </a:r>
            <a:r>
              <a:rPr lang="en-US" sz="1500" b="1" dirty="0">
                <a:solidFill>
                  <a:schemeClr val="accent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 </a:t>
            </a:r>
            <a:r>
              <a:rPr lang="en-US" dirty="0">
                <a:solidFill>
                  <a:srgbClr val="FF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to follow up </a:t>
            </a:r>
            <a:r>
              <a:rPr lang="en-US" sz="1500" dirty="0">
                <a:solidFill>
                  <a:schemeClr val="accent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properly: 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 minutes </a:t>
            </a:r>
            <a:r>
              <a:rPr lang="en-US" sz="1500" dirty="0">
                <a:solidFill>
                  <a:schemeClr val="accent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 contact for notes, profile, project and message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84540" y="3044952"/>
            <a:ext cx="34238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EADFC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€</a:t>
            </a:r>
            <a:r>
              <a:rPr lang="en-US" sz="6600" b="1" spc="300" dirty="0">
                <a:solidFill>
                  <a:srgbClr val="EADFC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2,780</a:t>
            </a:r>
            <a:endParaRPr lang="en-US" sz="6600" spc="300" dirty="0">
              <a:solidFill>
                <a:srgbClr val="EADFCB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584540" y="4517136"/>
            <a:ext cx="3423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 billable time a year, at the </a:t>
            </a:r>
            <a:r>
              <a:rPr lang="en-US" sz="2800" b="1" dirty="0">
                <a:solidFill>
                  <a:srgbClr val="FF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€103 </a:t>
            </a:r>
            <a:r>
              <a:rPr lang="en-US" sz="1500" dirty="0">
                <a:solidFill>
                  <a:schemeClr val="accent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freelancer </a:t>
            </a:r>
            <a:r>
              <a:rPr lang="en-US" sz="2800" b="1" dirty="0">
                <a:solidFill>
                  <a:srgbClr val="FF0000"/>
                </a:solidFill>
                <a:latin typeface="DM Sans" pitchFamily="34" charset="0"/>
              </a:rPr>
              <a:t>hourly rate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8234782" y="3049524"/>
            <a:ext cx="34238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chemeClr val="accent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  </a:t>
            </a:r>
            <a:r>
              <a:rPr lang="en-US" sz="6600" b="1" dirty="0">
                <a:solidFill>
                  <a:srgbClr val="FF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 </a:t>
            </a:r>
            <a:r>
              <a:rPr lang="en-US" sz="6600" b="1" dirty="0">
                <a:solidFill>
                  <a:srgbClr val="EADFC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/</a:t>
            </a:r>
            <a:r>
              <a:rPr lang="en-US" sz="6600" b="1" dirty="0">
                <a:solidFill>
                  <a:schemeClr val="accent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</a:t>
            </a:r>
            <a:r>
              <a:rPr lang="en-US" sz="6600" b="1" dirty="0">
                <a:solidFill>
                  <a:srgbClr val="EADFC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10</a:t>
            </a:r>
            <a:endParaRPr lang="en-US" sz="6600" dirty="0">
              <a:solidFill>
                <a:srgbClr val="EADFCB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234782" y="4453128"/>
            <a:ext cx="3423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people we asked </a:t>
            </a:r>
            <a:r>
              <a:rPr lang="en-US" sz="2800" b="1" dirty="0">
                <a:solidFill>
                  <a:srgbClr val="FF0000"/>
                </a:solidFill>
                <a:latin typeface="DM Sans" pitchFamily="34" charset="0"/>
              </a:rPr>
              <a:t>lost a contact </a:t>
            </a:r>
            <a:r>
              <a:rPr lang="en-US" sz="1500" dirty="0">
                <a:solidFill>
                  <a:schemeClr val="accent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meant to follow up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84225" y="5532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6" name="Footnote"/>
          <p:cNvSpPr txBox="1"/>
          <p:nvPr/>
        </p:nvSpPr>
        <p:spPr>
          <a:xfrm>
            <a:off x="548640" y="632764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Hourly rate: Freelancer-Kompass 2026. 200 contacts a year and 8 minutes per contact are our estimates.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50">
                <a:solidFill>
                  <a:schemeClr val="accent6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C1135-B095-3A39-4FF4-D6B171961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>
            <a:extLst>
              <a:ext uri="{FF2B5EF4-FFF2-40B4-BE49-F238E27FC236}">
                <a16:creationId xmlns:a16="http://schemas.microsoft.com/office/drawing/2014/main" id="{03545C9B-4F08-AD64-75B8-46684CF8A5CB}"/>
              </a:ext>
            </a:extLst>
          </p:cNvPr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1CE1CF7-EB20-3FA1-E6FF-68C649A22B89}"/>
              </a:ext>
            </a:extLst>
          </p:cNvPr>
          <p:cNvSpPr txBox="1"/>
          <p:nvPr/>
        </p:nvSpPr>
        <p:spPr>
          <a:xfrm>
            <a:off x="868680" y="4892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8931A83-32AC-02F1-E14F-68D02C8A39C1}"/>
              </a:ext>
            </a:extLst>
          </p:cNvPr>
          <p:cNvSpPr txBox="1"/>
          <p:nvPr/>
        </p:nvSpPr>
        <p:spPr>
          <a:xfrm>
            <a:off x="1737665" y="2718379"/>
            <a:ext cx="10454335" cy="2876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is not only about the money, it is more about </a:t>
            </a:r>
          </a:p>
          <a:p>
            <a:pPr marL="0" indent="0">
              <a:buNone/>
            </a:pPr>
            <a:r>
              <a:rPr lang="en-US" sz="4800" b="1" dirty="0">
                <a:solidFill>
                  <a:srgbClr val="FF0000"/>
                </a:solidFill>
                <a:latin typeface="DM Sans" pitchFamily="34" charset="0"/>
              </a:rPr>
              <a:t>the lost </a:t>
            </a:r>
            <a:r>
              <a:rPr lang="en-US" sz="4800" b="1" dirty="0">
                <a:solidFill>
                  <a:srgbClr val="FF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opportunities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6" name="Footnote">
            <a:extLst>
              <a:ext uri="{FF2B5EF4-FFF2-40B4-BE49-F238E27FC236}">
                <a16:creationId xmlns:a16="http://schemas.microsoft.com/office/drawing/2014/main" id="{2963B2E0-609F-9F9F-CD6D-31CC7176547A}"/>
              </a:ext>
            </a:extLst>
          </p:cNvPr>
          <p:cNvSpPr txBox="1"/>
          <p:nvPr/>
        </p:nvSpPr>
        <p:spPr>
          <a:xfrm>
            <a:off x="548640" y="632764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Hourly rate: Freelancer-Kompass 2026. 200 contacts a year and 8 minutes per contact are our estimates.</a:t>
            </a:r>
            <a:endParaRPr lang="en-US" sz="105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94139CFC-A483-1261-D08E-D495C7B93A9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0140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50">
                <a:solidFill>
                  <a:schemeClr val="accent6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001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SYNCY REMOVES THE FRICTION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07722"/>
            <a:ext cx="11094415" cy="596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r>
              <a:rPr lang="en-US" sz="3400" b="1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steps. </a:t>
            </a:r>
            <a:r>
              <a:rPr lang="en-US" sz="3400" b="1" dirty="0">
                <a:solidFill>
                  <a:srgbClr val="FF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r>
              <a:rPr lang="en-US" sz="3400" b="1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apps.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4185" y="2104105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TODAY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4185" y="2378425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8 min</a:t>
            </a:r>
            <a:endParaRPr lang="en-US" sz="3000" dirty="0">
              <a:solidFill>
                <a:srgbClr val="FF0000"/>
              </a:solidFill>
            </a:endParaRPr>
          </a:p>
        </p:txBody>
      </p:sp>
      <p:sp>
        <p:nvSpPr>
          <p:cNvPr id="6" name="Today step 1"/>
          <p:cNvSpPr/>
          <p:nvPr/>
        </p:nvSpPr>
        <p:spPr>
          <a:xfrm>
            <a:off x="2347265" y="2058384"/>
            <a:ext cx="1752539" cy="1182331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484425" y="2149825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484425" y="2405857"/>
            <a:ext cx="146708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 on LinkedIn</a:t>
            </a:r>
            <a:endParaRPr lang="en-US" dirty="0"/>
          </a:p>
        </p:txBody>
      </p:sp>
      <p:sp>
        <p:nvSpPr>
          <p:cNvPr id="9" name="Today step 2"/>
          <p:cNvSpPr/>
          <p:nvPr/>
        </p:nvSpPr>
        <p:spPr>
          <a:xfrm>
            <a:off x="4236964" y="2058384"/>
            <a:ext cx="1752539" cy="1182331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48242" y="2161695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374124" y="2405857"/>
            <a:ext cx="16153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Type notes on your phone</a:t>
            </a:r>
            <a:endParaRPr lang="en-US" dirty="0"/>
          </a:p>
        </p:txBody>
      </p:sp>
      <p:sp>
        <p:nvSpPr>
          <p:cNvPr id="12" name="Today step 3"/>
          <p:cNvSpPr/>
          <p:nvPr/>
        </p:nvSpPr>
        <p:spPr>
          <a:xfrm>
            <a:off x="6126663" y="2058384"/>
            <a:ext cx="1752539" cy="1182331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63823" y="2149825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63823" y="2405857"/>
            <a:ext cx="15239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Find the profile again</a:t>
            </a:r>
            <a:endParaRPr lang="en-US" dirty="0"/>
          </a:p>
        </p:txBody>
      </p:sp>
      <p:sp>
        <p:nvSpPr>
          <p:cNvPr id="15" name="Today step 4"/>
          <p:cNvSpPr/>
          <p:nvPr/>
        </p:nvSpPr>
        <p:spPr>
          <a:xfrm>
            <a:off x="8016362" y="2058384"/>
            <a:ext cx="1752539" cy="1182331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53522" y="2149825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153522" y="2405857"/>
            <a:ext cx="15239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Decide which project</a:t>
            </a:r>
            <a:endParaRPr lang="en-US" dirty="0"/>
          </a:p>
        </p:txBody>
      </p:sp>
      <p:sp>
        <p:nvSpPr>
          <p:cNvPr id="18" name="Today step 5"/>
          <p:cNvSpPr/>
          <p:nvPr/>
        </p:nvSpPr>
        <p:spPr>
          <a:xfrm>
            <a:off x="9906061" y="2058384"/>
            <a:ext cx="1752539" cy="1182331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043221" y="2149825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0043221" y="2405857"/>
            <a:ext cx="15239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Write the message</a:t>
            </a:r>
            <a:endParaRPr lang="en-US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50">
                <a:solidFill>
                  <a:schemeClr val="accent5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52DC0DE5-C6A7-402C-DB34-EEF56C57F7E9}"/>
              </a:ext>
            </a:extLst>
          </p:cNvPr>
          <p:cNvSpPr txBox="1"/>
          <p:nvPr/>
        </p:nvSpPr>
        <p:spPr>
          <a:xfrm>
            <a:off x="564185" y="392426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 SYNCY</a:t>
            </a:r>
            <a:endParaRPr lang="en-US" sz="1300" dirty="0"/>
          </a:p>
        </p:txBody>
      </p:sp>
      <p:sp>
        <p:nvSpPr>
          <p:cNvPr id="44" name="Text 20">
            <a:extLst>
              <a:ext uri="{FF2B5EF4-FFF2-40B4-BE49-F238E27FC236}">
                <a16:creationId xmlns:a16="http://schemas.microsoft.com/office/drawing/2014/main" id="{AD8754B9-FF92-BDE2-3580-C9DE7A91C456}"/>
              </a:ext>
            </a:extLst>
          </p:cNvPr>
          <p:cNvSpPr txBox="1"/>
          <p:nvPr/>
        </p:nvSpPr>
        <p:spPr>
          <a:xfrm>
            <a:off x="564185" y="419858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 min</a:t>
            </a:r>
            <a:endParaRPr lang="en-US" sz="3000" dirty="0"/>
          </a:p>
        </p:txBody>
      </p:sp>
      <p:sp>
        <p:nvSpPr>
          <p:cNvPr id="45" name="Syncy step 1">
            <a:extLst>
              <a:ext uri="{FF2B5EF4-FFF2-40B4-BE49-F238E27FC236}">
                <a16:creationId xmlns:a16="http://schemas.microsoft.com/office/drawing/2014/main" id="{118ACD84-C27A-79CF-4FB9-429C2C388B2C}"/>
              </a:ext>
            </a:extLst>
          </p:cNvPr>
          <p:cNvSpPr/>
          <p:nvPr/>
        </p:nvSpPr>
        <p:spPr>
          <a:xfrm>
            <a:off x="2347265" y="3878542"/>
            <a:ext cx="3012338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BED97E0F-50B0-0698-F00F-C3D19C86AC79}"/>
              </a:ext>
            </a:extLst>
          </p:cNvPr>
          <p:cNvSpPr txBox="1"/>
          <p:nvPr/>
        </p:nvSpPr>
        <p:spPr>
          <a:xfrm>
            <a:off x="2530145" y="3997414"/>
            <a:ext cx="27380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 Scan</a:t>
            </a:r>
            <a:endParaRPr lang="en-US" sz="1700" dirty="0"/>
          </a:p>
        </p:txBody>
      </p:sp>
      <p:sp>
        <p:nvSpPr>
          <p:cNvPr id="47" name="Text 23">
            <a:extLst>
              <a:ext uri="{FF2B5EF4-FFF2-40B4-BE49-F238E27FC236}">
                <a16:creationId xmlns:a16="http://schemas.microsoft.com/office/drawing/2014/main" id="{017A01FF-8307-1309-7F68-BCBD699FAA25}"/>
              </a:ext>
            </a:extLst>
          </p:cNvPr>
          <p:cNvSpPr txBox="1"/>
          <p:nvPr/>
        </p:nvSpPr>
        <p:spPr>
          <a:xfrm>
            <a:off x="2530145" y="4354030"/>
            <a:ext cx="27380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their LinkedIn or Xing QR</a:t>
            </a:r>
            <a:endParaRPr lang="en-US" sz="1400" dirty="0"/>
          </a:p>
        </p:txBody>
      </p:sp>
      <p:sp>
        <p:nvSpPr>
          <p:cNvPr id="48" name="Syncy step 2">
            <a:extLst>
              <a:ext uri="{FF2B5EF4-FFF2-40B4-BE49-F238E27FC236}">
                <a16:creationId xmlns:a16="http://schemas.microsoft.com/office/drawing/2014/main" id="{A7E51AFD-1E49-7BB6-BFBF-8A55AA3135D8}"/>
              </a:ext>
            </a:extLst>
          </p:cNvPr>
          <p:cNvSpPr/>
          <p:nvPr/>
        </p:nvSpPr>
        <p:spPr>
          <a:xfrm>
            <a:off x="5496763" y="3878542"/>
            <a:ext cx="3012338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sp>
        <p:nvSpPr>
          <p:cNvPr id="49" name="Text 25">
            <a:extLst>
              <a:ext uri="{FF2B5EF4-FFF2-40B4-BE49-F238E27FC236}">
                <a16:creationId xmlns:a16="http://schemas.microsoft.com/office/drawing/2014/main" id="{A9B3A30B-1A8B-7995-C07D-1550D85391A5}"/>
              </a:ext>
            </a:extLst>
          </p:cNvPr>
          <p:cNvSpPr txBox="1"/>
          <p:nvPr/>
        </p:nvSpPr>
        <p:spPr>
          <a:xfrm>
            <a:off x="5679643" y="3997414"/>
            <a:ext cx="27380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 Talk</a:t>
            </a:r>
            <a:endParaRPr lang="en-US" sz="1700" dirty="0"/>
          </a:p>
        </p:txBody>
      </p:sp>
      <p:sp>
        <p:nvSpPr>
          <p:cNvPr id="50" name="Text 26">
            <a:extLst>
              <a:ext uri="{FF2B5EF4-FFF2-40B4-BE49-F238E27FC236}">
                <a16:creationId xmlns:a16="http://schemas.microsoft.com/office/drawing/2014/main" id="{7D736374-2CE8-0EFA-4494-AA2E520B533C}"/>
              </a:ext>
            </a:extLst>
          </p:cNvPr>
          <p:cNvSpPr txBox="1"/>
          <p:nvPr/>
        </p:nvSpPr>
        <p:spPr>
          <a:xfrm>
            <a:off x="5679643" y="4354030"/>
            <a:ext cx="27380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 create your note</a:t>
            </a:r>
            <a:endParaRPr lang="en-US" sz="1400" dirty="0"/>
          </a:p>
        </p:txBody>
      </p:sp>
      <p:sp>
        <p:nvSpPr>
          <p:cNvPr id="51" name="Syncy step 3">
            <a:extLst>
              <a:ext uri="{FF2B5EF4-FFF2-40B4-BE49-F238E27FC236}">
                <a16:creationId xmlns:a16="http://schemas.microsoft.com/office/drawing/2014/main" id="{21858464-FE09-0D4A-EB58-B57CA0319CE7}"/>
              </a:ext>
            </a:extLst>
          </p:cNvPr>
          <p:cNvSpPr/>
          <p:nvPr/>
        </p:nvSpPr>
        <p:spPr>
          <a:xfrm>
            <a:off x="8646262" y="3878542"/>
            <a:ext cx="3012338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sp>
        <p:nvSpPr>
          <p:cNvPr id="52" name="Text 28">
            <a:extLst>
              <a:ext uri="{FF2B5EF4-FFF2-40B4-BE49-F238E27FC236}">
                <a16:creationId xmlns:a16="http://schemas.microsoft.com/office/drawing/2014/main" id="{5FE7FCF1-905D-561D-A11B-F71806BF3412}"/>
              </a:ext>
            </a:extLst>
          </p:cNvPr>
          <p:cNvSpPr txBox="1"/>
          <p:nvPr/>
        </p:nvSpPr>
        <p:spPr>
          <a:xfrm>
            <a:off x="8829142" y="3997414"/>
            <a:ext cx="27380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 Review and send</a:t>
            </a:r>
            <a:endParaRPr lang="en-US" sz="1700" dirty="0"/>
          </a:p>
        </p:txBody>
      </p:sp>
      <p:sp>
        <p:nvSpPr>
          <p:cNvPr id="53" name="Text 29">
            <a:extLst>
              <a:ext uri="{FF2B5EF4-FFF2-40B4-BE49-F238E27FC236}">
                <a16:creationId xmlns:a16="http://schemas.microsoft.com/office/drawing/2014/main" id="{8C95FF13-CCF8-090B-51F9-2CF41C42ABEB}"/>
              </a:ext>
            </a:extLst>
          </p:cNvPr>
          <p:cNvSpPr txBox="1"/>
          <p:nvPr/>
        </p:nvSpPr>
        <p:spPr>
          <a:xfrm>
            <a:off x="8829142" y="4354030"/>
            <a:ext cx="27380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card, project match, draft</a:t>
            </a:r>
            <a:endParaRPr lang="en-US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2604E20-487B-3C06-93EB-016351EDF153}"/>
              </a:ext>
            </a:extLst>
          </p:cNvPr>
          <p:cNvSpPr txBox="1"/>
          <p:nvPr/>
        </p:nvSpPr>
        <p:spPr>
          <a:xfrm>
            <a:off x="560075" y="5476577"/>
            <a:ext cx="609391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accent3"/>
                </a:solidFill>
                <a:latin typeface="Oswald" pitchFamily="34" charset="0"/>
              </a:rPr>
              <a:t>1</a:t>
            </a:r>
            <a:r>
              <a:rPr lang="en-US" sz="3400" b="1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app. </a:t>
            </a:r>
            <a:r>
              <a:rPr lang="en-US" sz="4800" b="1" dirty="0">
                <a:solidFill>
                  <a:schemeClr val="accent3"/>
                </a:solidFill>
                <a:latin typeface="Oswald" pitchFamily="34" charset="0"/>
              </a:rPr>
              <a:t>1</a:t>
            </a:r>
            <a:r>
              <a:rPr lang="en-US" sz="6000" b="1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3400" b="1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minute.</a:t>
            </a:r>
            <a:endParaRPr lang="en-DE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91627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DEMO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06342"/>
            <a:ext cx="7315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0" b="1" dirty="0">
                <a:solidFill>
                  <a:schemeClr val="bg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LIVE</a:t>
            </a:r>
            <a:endParaRPr lang="en-US" sz="20000" dirty="0"/>
          </a:p>
        </p:txBody>
      </p:sp>
      <p:sp>
        <p:nvSpPr>
          <p:cNvPr id="4" name="Syncy sphere"/>
          <p:cNvSpPr/>
          <p:nvPr/>
        </p:nvSpPr>
        <p:spPr>
          <a:xfrm>
            <a:off x="8869680" y="822960"/>
            <a:ext cx="2651760" cy="2651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069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Scan → Talk → Follow up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846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Enter the event · scan QR · 20-second memo · AI card with project match · save · dashboard</a:t>
            </a:r>
            <a:endParaRPr lang="en-US" sz="1600" dirty="0"/>
          </a:p>
        </p:txBody>
      </p:sp>
      <p:sp>
        <p:nvSpPr>
          <p:cNvPr id="7" name="Footnote"/>
          <p:cNvSpPr txBox="1"/>
          <p:nvPr/>
        </p:nvSpPr>
        <p:spPr>
          <a:xfrm>
            <a:off x="548640" y="632764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 AI calls. Invented demo people only. Backup: the 2-minute screen recording.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50">
                <a:solidFill>
                  <a:schemeClr val="accent6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E328BA-A892-DD4B-E1A8-DD97A72C5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897" y="525272"/>
            <a:ext cx="4076700" cy="393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348136" y="3711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chemeClr val="accent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COST TO RUN</a:t>
            </a:r>
            <a:endParaRPr lang="en-US" sz="3200" dirty="0"/>
          </a:p>
        </p:txBody>
      </p:sp>
      <p:sp>
        <p:nvSpPr>
          <p:cNvPr id="14" name="Footnote"/>
          <p:cNvSpPr txBox="1"/>
          <p:nvPr/>
        </p:nvSpPr>
        <p:spPr>
          <a:xfrm>
            <a:off x="548640" y="632764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OpenRouter list prices, Oct 2026: GPT-6 Luna and Whisper Large V3 Turbo. The year-1 budget adds a 10× AI buffer and the free users. The MVP was built in 4 days.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50">
                <a:solidFill>
                  <a:schemeClr val="accent5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A7D4FFF-14F8-9203-8D41-CC52C186A0D3}"/>
              </a:ext>
            </a:extLst>
          </p:cNvPr>
          <p:cNvGrpSpPr/>
          <p:nvPr/>
        </p:nvGrpSpPr>
        <p:grpSpPr>
          <a:xfrm>
            <a:off x="357215" y="1464073"/>
            <a:ext cx="3210852" cy="1512077"/>
            <a:chOff x="-2531614" y="947706"/>
            <a:chExt cx="3210852" cy="1512077"/>
          </a:xfrm>
        </p:grpSpPr>
        <p:sp>
          <p:nvSpPr>
            <p:cNvPr id="37" name="Today step 1">
              <a:extLst>
                <a:ext uri="{FF2B5EF4-FFF2-40B4-BE49-F238E27FC236}">
                  <a16:creationId xmlns:a16="http://schemas.microsoft.com/office/drawing/2014/main" id="{129BEC87-DF76-FEC3-1895-61D67F986B15}"/>
                </a:ext>
              </a:extLst>
            </p:cNvPr>
            <p:cNvSpPr/>
            <p:nvPr/>
          </p:nvSpPr>
          <p:spPr>
            <a:xfrm>
              <a:off x="-2531614" y="947706"/>
              <a:ext cx="3210852" cy="1512077"/>
            </a:xfrm>
            <a:prstGeom prst="roundRect">
              <a:avLst>
                <a:gd name="adj" fmla="val 8000"/>
              </a:avLst>
            </a:prstGeom>
            <a:solidFill>
              <a:srgbClr val="EADFCB">
                <a:alpha val="74902"/>
              </a:srgbClr>
            </a:solidFill>
            <a:ln/>
          </p:spPr>
        </p:sp>
        <p:sp>
          <p:nvSpPr>
            <p:cNvPr id="18" name="Text 4">
              <a:extLst>
                <a:ext uri="{FF2B5EF4-FFF2-40B4-BE49-F238E27FC236}">
                  <a16:creationId xmlns:a16="http://schemas.microsoft.com/office/drawing/2014/main" id="{5DA2AE84-B3EE-428D-96D8-9035F66A1023}"/>
                </a:ext>
              </a:extLst>
            </p:cNvPr>
            <p:cNvSpPr txBox="1"/>
            <p:nvPr/>
          </p:nvSpPr>
          <p:spPr>
            <a:xfrm>
              <a:off x="-2393864" y="1162995"/>
              <a:ext cx="2884842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00" b="1" dirty="0">
                  <a:solidFill>
                    <a:schemeClr val="accent3"/>
                  </a:solidFill>
                  <a:latin typeface="Oswald" pitchFamily="34" charset="0"/>
                  <a:ea typeface="Oswald" pitchFamily="34" charset="-122"/>
                  <a:cs typeface="Arial" panose="020B0604020202020204" pitchFamily="34" charset="0"/>
                </a:rPr>
                <a:t>€</a:t>
              </a:r>
              <a:r>
                <a:rPr lang="en-US" sz="4800" b="1" dirty="0">
                  <a:solidFill>
                    <a:schemeClr val="accent3"/>
                  </a:solidFill>
                  <a:latin typeface="Oswald" pitchFamily="34" charset="0"/>
                  <a:ea typeface="Oswald" pitchFamily="34" charset="-122"/>
                  <a:cs typeface="Oswald" pitchFamily="34" charset="-120"/>
                </a:rPr>
                <a:t>0.11</a:t>
              </a:r>
              <a:endParaRPr lang="en-US" sz="4800" dirty="0"/>
            </a:p>
          </p:txBody>
        </p:sp>
        <p:sp>
          <p:nvSpPr>
            <p:cNvPr id="20" name="Text 5">
              <a:extLst>
                <a:ext uri="{FF2B5EF4-FFF2-40B4-BE49-F238E27FC236}">
                  <a16:creationId xmlns:a16="http://schemas.microsoft.com/office/drawing/2014/main" id="{90F5B3AC-3779-FC46-A7DF-7AED1217C14F}"/>
                </a:ext>
              </a:extLst>
            </p:cNvPr>
            <p:cNvSpPr txBox="1"/>
            <p:nvPr/>
          </p:nvSpPr>
          <p:spPr>
            <a:xfrm>
              <a:off x="-2393865" y="1830459"/>
              <a:ext cx="2884842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chemeClr val="accent5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AI</a:t>
              </a:r>
              <a:r>
                <a:rPr lang="en-US" sz="1400" dirty="0">
                  <a:solidFill>
                    <a:schemeClr val="accent5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for</a:t>
              </a:r>
              <a:r>
                <a:rPr lang="en-US" sz="1400" b="1" dirty="0">
                  <a:solidFill>
                    <a:schemeClr val="accent5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</a:t>
              </a:r>
              <a:r>
                <a:rPr lang="en-US" sz="1400" b="1" dirty="0">
                  <a:solidFill>
                    <a:srgbClr val="FF000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1</a:t>
              </a:r>
              <a:r>
                <a:rPr lang="en-US" sz="1400" b="1" dirty="0">
                  <a:solidFill>
                    <a:schemeClr val="accent5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</a:t>
              </a:r>
              <a:r>
                <a:rPr lang="en-US" sz="1400" dirty="0">
                  <a:solidFill>
                    <a:schemeClr val="accent5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paying </a:t>
              </a:r>
              <a:r>
                <a:rPr lang="en-US" sz="1400" b="1" dirty="0">
                  <a:solidFill>
                    <a:srgbClr val="FF000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customer</a:t>
              </a:r>
              <a:r>
                <a:rPr lang="en-US" sz="1400" dirty="0">
                  <a:solidFill>
                    <a:schemeClr val="accent5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a year, at </a:t>
              </a:r>
              <a:r>
                <a:rPr lang="en-US" b="1" dirty="0">
                  <a:solidFill>
                    <a:srgbClr val="FF000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200</a:t>
              </a:r>
              <a:r>
                <a:rPr lang="en-US" sz="1400" dirty="0">
                  <a:solidFill>
                    <a:schemeClr val="accent5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contacts</a:t>
              </a:r>
              <a:endParaRPr lang="en-US" sz="1400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C830376-8F70-7983-E641-EC3593A3815D}"/>
              </a:ext>
            </a:extLst>
          </p:cNvPr>
          <p:cNvGrpSpPr/>
          <p:nvPr/>
        </p:nvGrpSpPr>
        <p:grpSpPr>
          <a:xfrm>
            <a:off x="6470457" y="1464073"/>
            <a:ext cx="3210852" cy="1512077"/>
            <a:chOff x="3970468" y="1004770"/>
            <a:chExt cx="3210852" cy="1512077"/>
          </a:xfrm>
        </p:grpSpPr>
        <p:sp>
          <p:nvSpPr>
            <p:cNvPr id="39" name="Today step 1">
              <a:extLst>
                <a:ext uri="{FF2B5EF4-FFF2-40B4-BE49-F238E27FC236}">
                  <a16:creationId xmlns:a16="http://schemas.microsoft.com/office/drawing/2014/main" id="{5BA2F39D-301D-B614-0158-8E241EC190A1}"/>
                </a:ext>
              </a:extLst>
            </p:cNvPr>
            <p:cNvSpPr/>
            <p:nvPr/>
          </p:nvSpPr>
          <p:spPr>
            <a:xfrm>
              <a:off x="3970468" y="1004770"/>
              <a:ext cx="3210852" cy="1512077"/>
            </a:xfrm>
            <a:prstGeom prst="roundRect">
              <a:avLst>
                <a:gd name="adj" fmla="val 8000"/>
              </a:avLst>
            </a:prstGeom>
            <a:solidFill>
              <a:srgbClr val="EADFCB">
                <a:alpha val="74902"/>
              </a:srgbClr>
            </a:solidFill>
            <a:ln/>
          </p:spPr>
          <p:txBody>
            <a:bodyPr/>
            <a:lstStyle/>
            <a:p>
              <a:endParaRPr lang="en-DE" dirty="0"/>
            </a:p>
          </p:txBody>
        </p:sp>
        <p:sp>
          <p:nvSpPr>
            <p:cNvPr id="22" name="Text 6">
              <a:extLst>
                <a:ext uri="{FF2B5EF4-FFF2-40B4-BE49-F238E27FC236}">
                  <a16:creationId xmlns:a16="http://schemas.microsoft.com/office/drawing/2014/main" id="{9FC86B89-E97F-9E57-B10F-75CD325B9B74}"/>
                </a:ext>
              </a:extLst>
            </p:cNvPr>
            <p:cNvSpPr txBox="1"/>
            <p:nvPr/>
          </p:nvSpPr>
          <p:spPr>
            <a:xfrm>
              <a:off x="4099281" y="1224000"/>
              <a:ext cx="1903755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00" b="1" dirty="0">
                  <a:solidFill>
                    <a:schemeClr val="accent3"/>
                  </a:solidFill>
                  <a:latin typeface="Oswald" pitchFamily="34" charset="0"/>
                  <a:ea typeface="Oswald" pitchFamily="34" charset="-122"/>
                  <a:cs typeface="Arial" panose="020B0604020202020204" pitchFamily="34" charset="0"/>
                </a:rPr>
                <a:t>€</a:t>
              </a:r>
              <a:r>
                <a:rPr lang="en-US" sz="4800" b="1" dirty="0">
                  <a:solidFill>
                    <a:schemeClr val="accent3"/>
                  </a:solidFill>
                  <a:latin typeface="Oswald" pitchFamily="34" charset="0"/>
                  <a:ea typeface="Oswald" pitchFamily="34" charset="-122"/>
                  <a:cs typeface="Oswald" pitchFamily="34" charset="-120"/>
                </a:rPr>
                <a:t>550</a:t>
              </a:r>
              <a:endParaRPr lang="en-US" sz="4800" dirty="0"/>
            </a:p>
          </p:txBody>
        </p:sp>
        <p:sp>
          <p:nvSpPr>
            <p:cNvPr id="24" name="Text 7">
              <a:extLst>
                <a:ext uri="{FF2B5EF4-FFF2-40B4-BE49-F238E27FC236}">
                  <a16:creationId xmlns:a16="http://schemas.microsoft.com/office/drawing/2014/main" id="{4814F341-65AA-884A-BBAD-DB02A93CB8C8}"/>
                </a:ext>
              </a:extLst>
            </p:cNvPr>
            <p:cNvSpPr txBox="1"/>
            <p:nvPr/>
          </p:nvSpPr>
          <p:spPr>
            <a:xfrm>
              <a:off x="4099281" y="1960053"/>
              <a:ext cx="1903755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000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infrastructure cost</a:t>
              </a:r>
              <a:r>
                <a:rPr lang="en-US" sz="1400" dirty="0">
                  <a:solidFill>
                    <a:schemeClr val="accent5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a year</a:t>
              </a:r>
              <a:endParaRPr lang="en-US" sz="1400" dirty="0"/>
            </a:p>
          </p:txBody>
        </p:sp>
      </p:grpSp>
      <p:sp>
        <p:nvSpPr>
          <p:cNvPr id="3" name="Text 3">
            <a:extLst>
              <a:ext uri="{FF2B5EF4-FFF2-40B4-BE49-F238E27FC236}">
                <a16:creationId xmlns:a16="http://schemas.microsoft.com/office/drawing/2014/main" id="{00BFB3EA-E991-EF91-4F02-FF1CFF041932}"/>
              </a:ext>
            </a:extLst>
          </p:cNvPr>
          <p:cNvSpPr txBox="1"/>
          <p:nvPr/>
        </p:nvSpPr>
        <p:spPr>
          <a:xfrm>
            <a:off x="6470457" y="3429000"/>
            <a:ext cx="536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Fixed services, per year</a:t>
            </a:r>
            <a:endParaRPr lang="en-US" sz="1500" dirty="0"/>
          </a:p>
        </p:txBody>
      </p:sp>
      <p:graphicFrame>
        <p:nvGraphicFramePr>
          <p:cNvPr id="5" name="Fixed cost table">
            <a:extLst>
              <a:ext uri="{FF2B5EF4-FFF2-40B4-BE49-F238E27FC236}">
                <a16:creationId xmlns:a16="http://schemas.microsoft.com/office/drawing/2014/main" id="{40567AEA-4E52-2AFD-1CE9-95B130297C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0777398"/>
              </p:ext>
            </p:extLst>
          </p:nvPr>
        </p:nvGraphicFramePr>
        <p:xfrm>
          <a:off x="6470457" y="3794760"/>
          <a:ext cx="5454396" cy="2304288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67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7F0E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Service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7F0E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Plan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7F0E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Per year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Supabase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Pro, up to 100k MAU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$300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Vercel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Pro, one seat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$240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Domain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Cloudflare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$10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Email, Google sign-in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Free tiers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$0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Total fixed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$550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2">
            <a:extLst>
              <a:ext uri="{FF2B5EF4-FFF2-40B4-BE49-F238E27FC236}">
                <a16:creationId xmlns:a16="http://schemas.microsoft.com/office/drawing/2014/main" id="{06581534-A912-F9EC-1987-19AC0151EF06}"/>
              </a:ext>
            </a:extLst>
          </p:cNvPr>
          <p:cNvSpPr txBox="1"/>
          <p:nvPr/>
        </p:nvSpPr>
        <p:spPr>
          <a:xfrm>
            <a:off x="357215" y="3485869"/>
            <a:ext cx="536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per contact, 60-second voice memo</a:t>
            </a:r>
            <a:endParaRPr lang="en-US" sz="1500" dirty="0"/>
          </a:p>
        </p:txBody>
      </p:sp>
      <p:graphicFrame>
        <p:nvGraphicFramePr>
          <p:cNvPr id="9" name="AI cost table">
            <a:extLst>
              <a:ext uri="{FF2B5EF4-FFF2-40B4-BE49-F238E27FC236}">
                <a16:creationId xmlns:a16="http://schemas.microsoft.com/office/drawing/2014/main" id="{12B12B5D-82EC-635B-01AD-05362A8E89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708350"/>
              </p:ext>
            </p:extLst>
          </p:nvPr>
        </p:nvGraphicFramePr>
        <p:xfrm>
          <a:off x="357215" y="3794758"/>
          <a:ext cx="5454396" cy="2304289"/>
        </p:xfrm>
        <a:graphic>
          <a:graphicData uri="http://schemas.openxmlformats.org/drawingml/2006/table">
            <a:tbl>
              <a:tblPr/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24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10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7F0E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API call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7F0E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Usage (in + out)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7F0E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Cost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0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Whisper transcription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60 seconds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Oswald" pitchFamily="34" charset="0"/>
                          <a:ea typeface="Oswald" pitchFamily="34" charset="-122"/>
                          <a:cs typeface="Arial" panose="020B0604020202020204" pitchFamily="34" charset="0"/>
                        </a:rPr>
                        <a:t>€</a:t>
                      </a: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0.00018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0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Summary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800 + 120 tokens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Oswald" pitchFamily="34" charset="0"/>
                          <a:ea typeface="Oswald" pitchFamily="34" charset="-122"/>
                          <a:cs typeface="Arial" panose="020B0604020202020204" pitchFamily="34" charset="0"/>
                        </a:rPr>
                        <a:t>€</a:t>
                      </a: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0.00014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0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Match + follow-up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1,200 + 180 tokens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Oswald" pitchFamily="34" charset="0"/>
                          <a:ea typeface="Oswald" pitchFamily="34" charset="-122"/>
                          <a:cs typeface="Arial" panose="020B0604020202020204" pitchFamily="34" charset="0"/>
                        </a:rPr>
                        <a:t>€</a:t>
                      </a: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0.00021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2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Total per contact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Oswald" pitchFamily="34" charset="0"/>
                          <a:ea typeface="Oswald" pitchFamily="34" charset="-122"/>
                          <a:cs typeface="Arial" panose="020B0604020202020204" pitchFamily="34" charset="0"/>
                        </a:rPr>
                        <a:t>€</a:t>
                      </a:r>
                      <a:r>
                        <a:rPr lang="en-US" sz="1400" b="1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0.00053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1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38B83A-5AE9-82E1-ED35-D3A7AB232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26A685-472A-8194-CAE7-9B576FBA6C34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400615" y="489966"/>
            <a:ext cx="11088000" cy="720000"/>
          </a:xfrm>
          <a:noFill/>
        </p:spPr>
        <p:txBody>
          <a:bodyPr/>
          <a:lstStyle/>
          <a:p>
            <a:r>
              <a:rPr lang="en-IN" sz="2800" kern="0" spc="200" dirty="0">
                <a:solidFill>
                  <a:schemeClr val="accent1"/>
                </a:solidFill>
              </a:rPr>
              <a:t>Target Users</a:t>
            </a:r>
            <a:br>
              <a:rPr lang="en-IN" sz="6600" dirty="0"/>
            </a:br>
            <a:endParaRPr lang="en-IN" sz="6000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20974CC6-BB0D-161F-3EB5-EA1023F818A4}"/>
              </a:ext>
            </a:extLst>
          </p:cNvPr>
          <p:cNvSpPr txBox="1">
            <a:spLocks/>
          </p:cNvSpPr>
          <p:nvPr/>
        </p:nvSpPr>
        <p:spPr>
          <a:xfrm>
            <a:off x="2393574" y="1872862"/>
            <a:ext cx="7458637" cy="7200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3400" b="1" kern="12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r>
              <a:rPr lang="en-IN" sz="2800" dirty="0"/>
              <a:t>Freelancers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7985FBE6-DF88-16EA-047F-966C32426CDC}"/>
              </a:ext>
            </a:extLst>
          </p:cNvPr>
          <p:cNvSpPr txBox="1">
            <a:spLocks/>
          </p:cNvSpPr>
          <p:nvPr/>
        </p:nvSpPr>
        <p:spPr>
          <a:xfrm>
            <a:off x="2393574" y="2841050"/>
            <a:ext cx="7458637" cy="7200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3400" b="1" kern="12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r>
              <a:rPr lang="en-IN" sz="2800" dirty="0"/>
              <a:t>Entrepreneurs</a:t>
            </a: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2D3F6004-0EE7-923C-AEC8-77274273B74D}"/>
              </a:ext>
            </a:extLst>
          </p:cNvPr>
          <p:cNvSpPr txBox="1">
            <a:spLocks/>
          </p:cNvSpPr>
          <p:nvPr/>
        </p:nvSpPr>
        <p:spPr>
          <a:xfrm>
            <a:off x="2393574" y="3802335"/>
            <a:ext cx="7458637" cy="7200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3400" b="1" kern="12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r>
              <a:rPr lang="en-IN" sz="2800" dirty="0"/>
              <a:t>Business Professionals</a:t>
            </a:r>
          </a:p>
        </p:txBody>
      </p:sp>
      <p:sp>
        <p:nvSpPr>
          <p:cNvPr id="16" name="Title 3">
            <a:extLst>
              <a:ext uri="{FF2B5EF4-FFF2-40B4-BE49-F238E27FC236}">
                <a16:creationId xmlns:a16="http://schemas.microsoft.com/office/drawing/2014/main" id="{356CF545-1B14-014E-FBF9-36E9DC0B336E}"/>
              </a:ext>
            </a:extLst>
          </p:cNvPr>
          <p:cNvSpPr txBox="1">
            <a:spLocks/>
          </p:cNvSpPr>
          <p:nvPr/>
        </p:nvSpPr>
        <p:spPr>
          <a:xfrm>
            <a:off x="2393574" y="4770523"/>
            <a:ext cx="7458637" cy="7200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3400" b="1" kern="12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r>
              <a:rPr lang="en-IN" sz="2800" dirty="0"/>
              <a:t>Job seekers or Networking Professionals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AAD56AB1-75E7-F516-B04D-DC610E3BC109}"/>
              </a:ext>
            </a:extLst>
          </p:cNvPr>
          <p:cNvSpPr/>
          <p:nvPr/>
        </p:nvSpPr>
        <p:spPr>
          <a:xfrm>
            <a:off x="1717657" y="2079811"/>
            <a:ext cx="468000" cy="1613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BF71C4CA-F856-5CAD-8007-01752B694679}"/>
              </a:ext>
            </a:extLst>
          </p:cNvPr>
          <p:cNvSpPr/>
          <p:nvPr/>
        </p:nvSpPr>
        <p:spPr>
          <a:xfrm>
            <a:off x="1717656" y="3030339"/>
            <a:ext cx="468000" cy="1613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E8DB3BEC-F0AB-1274-40AF-AD2680C6BD25}"/>
              </a:ext>
            </a:extLst>
          </p:cNvPr>
          <p:cNvSpPr/>
          <p:nvPr/>
        </p:nvSpPr>
        <p:spPr>
          <a:xfrm>
            <a:off x="1717656" y="3980867"/>
            <a:ext cx="468000" cy="1613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32E6D7FF-AF52-B835-2359-CEA63D29FB06}"/>
              </a:ext>
            </a:extLst>
          </p:cNvPr>
          <p:cNvSpPr/>
          <p:nvPr/>
        </p:nvSpPr>
        <p:spPr>
          <a:xfrm>
            <a:off x="1717655" y="4931395"/>
            <a:ext cx="468000" cy="1613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7278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PLANS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944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 to try. €9 a month to keep</a:t>
            </a:r>
            <a:endParaRPr lang="en-US" sz="3400" dirty="0"/>
          </a:p>
        </p:txBody>
      </p:sp>
      <p:sp>
        <p:nvSpPr>
          <p:cNvPr id="4" name="Free plan"/>
          <p:cNvSpPr/>
          <p:nvPr/>
        </p:nvSpPr>
        <p:spPr>
          <a:xfrm>
            <a:off x="548640" y="2103120"/>
            <a:ext cx="3484778" cy="3246120"/>
          </a:xfrm>
          <a:prstGeom prst="roundRect">
            <a:avLst>
              <a:gd name="adj" fmla="val 2254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28600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29361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chemeClr val="bg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€0</a:t>
            </a:r>
            <a:endParaRPr lang="en-US" sz="6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57600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forever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069080"/>
            <a:ext cx="29361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event and up to 3 contacts a month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summary and follow-up drafts</a:t>
            </a:r>
            <a:endParaRPr lang="en-US" sz="1400" dirty="0"/>
          </a:p>
        </p:txBody>
      </p:sp>
      <p:sp>
        <p:nvSpPr>
          <p:cNvPr id="9" name="Pro plan"/>
          <p:cNvSpPr/>
          <p:nvPr/>
        </p:nvSpPr>
        <p:spPr>
          <a:xfrm>
            <a:off x="4353458" y="2103120"/>
            <a:ext cx="3484778" cy="3246120"/>
          </a:xfrm>
          <a:prstGeom prst="roundRect">
            <a:avLst>
              <a:gd name="adj" fmla="val 2254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27778" y="228600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27778" y="2651760"/>
            <a:ext cx="29361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chemeClr val="tx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€9</a:t>
            </a:r>
            <a:endParaRPr lang="en-US" sz="6400" dirty="0"/>
          </a:p>
        </p:txBody>
      </p:sp>
      <p:sp>
        <p:nvSpPr>
          <p:cNvPr id="12" name="Text 10"/>
          <p:cNvSpPr txBox="1"/>
          <p:nvPr/>
        </p:nvSpPr>
        <p:spPr>
          <a:xfrm>
            <a:off x="4627778" y="3657600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month, €108 a year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27778" y="4069080"/>
            <a:ext cx="29361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Unlimited contacts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Notion project import and matching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Contacts dashboard</a:t>
            </a:r>
            <a:endParaRPr lang="en-US" sz="1400" dirty="0"/>
          </a:p>
        </p:txBody>
      </p:sp>
      <p:sp>
        <p:nvSpPr>
          <p:cNvPr id="14" name="Team · 2028 plan"/>
          <p:cNvSpPr/>
          <p:nvPr/>
        </p:nvSpPr>
        <p:spPr>
          <a:xfrm>
            <a:off x="8158277" y="2103120"/>
            <a:ext cx="3484778" cy="3246120"/>
          </a:xfrm>
          <a:prstGeom prst="roundRect">
            <a:avLst>
              <a:gd name="adj" fmla="val 2254"/>
            </a:avLst>
          </a:prstGeom>
          <a:solidFill>
            <a:schemeClr val="tx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32597" y="228600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  (b2b)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432597" y="2651760"/>
            <a:ext cx="29361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chemeClr val="bg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€19</a:t>
            </a:r>
            <a:endParaRPr lang="en-US" sz="6400" dirty="0"/>
          </a:p>
        </p:txBody>
      </p:sp>
      <p:sp>
        <p:nvSpPr>
          <p:cNvPr id="17" name="Text 15"/>
          <p:cNvSpPr txBox="1"/>
          <p:nvPr/>
        </p:nvSpPr>
        <p:spPr>
          <a:xfrm>
            <a:off x="8432597" y="3657600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 seat </a:t>
            </a:r>
            <a:r>
              <a:rPr lang="en-US" sz="1400" dirty="0">
                <a:solidFill>
                  <a:schemeClr val="accent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month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432597" y="4069080"/>
            <a:ext cx="29361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Shared contacts across a team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Export to HubSpot or another CRM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623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€5,000 client project pays for </a:t>
            </a:r>
            <a:r>
              <a:rPr lang="en-US" sz="2000" b="1" dirty="0">
                <a:solidFill>
                  <a:schemeClr val="accent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46 years of Pro.</a:t>
            </a:r>
            <a:endParaRPr lang="en-US" sz="2000" dirty="0"/>
          </a:p>
        </p:txBody>
      </p:sp>
      <p:sp>
        <p:nvSpPr>
          <p:cNvPr id="20" name="Footnote"/>
          <p:cNvSpPr txBox="1"/>
          <p:nvPr/>
        </p:nvSpPr>
        <p:spPr>
          <a:xfrm>
            <a:off x="548640" y="632764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€5,000 project is an illustrative example. The Team price is a hypothesis we set after the Pro pilots.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50">
                <a:solidFill>
                  <a:schemeClr val="accent6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838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GROSS MARGIN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944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88% gross margin from 1,000 paying users</a:t>
            </a:r>
            <a:endParaRPr lang="en-US" sz="3400" dirty="0"/>
          </a:p>
        </p:txBody>
      </p:sp>
      <p:graphicFrame>
        <p:nvGraphicFramePr>
          <p:cNvPr id="12" name="Margi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177573"/>
              </p:ext>
            </p:extLst>
          </p:nvPr>
        </p:nvGraphicFramePr>
        <p:xfrm>
          <a:off x="548640" y="2103120"/>
          <a:ext cx="6949440" cy="28448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7F0E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Paying users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7F0E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Revenue a year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7F0E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Cost per user a year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7F0E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Gross margin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100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€10,800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€20.36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81%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500, year 1 target</a:t>
                      </a:r>
                      <a:endParaRPr lang="en-US" sz="1600" b="1" dirty="0">
                        <a:solidFill>
                          <a:srgbClr val="FF0000"/>
                        </a:solidFill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€54,000</a:t>
                      </a:r>
                      <a:endParaRPr lang="en-US" sz="1600" b="1" dirty="0">
                        <a:solidFill>
                          <a:srgbClr val="FF0000"/>
                        </a:solidFill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€14.10</a:t>
                      </a:r>
                      <a:endParaRPr lang="en-US" sz="1600" b="1" dirty="0">
                        <a:solidFill>
                          <a:srgbClr val="FF0000"/>
                        </a:solidFill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87%</a:t>
                      </a:r>
                      <a:endParaRPr lang="en-US" sz="1600" b="1" dirty="0">
                        <a:solidFill>
                          <a:srgbClr val="FF0000"/>
                        </a:solidFill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1,000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€108,000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€13.45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88%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5,000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€540,000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€12.75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88%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10,000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€1,080,000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€12.67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88%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909560" y="2103120"/>
            <a:ext cx="37334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tx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€108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7909560" y="2852928"/>
            <a:ext cx="3733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revenue per paying user a year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909560" y="3383280"/>
            <a:ext cx="37334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€13.45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7909560" y="4133088"/>
            <a:ext cx="3733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cost to serve them, at 1,000 users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909560" y="4663440"/>
            <a:ext cx="37334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tx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8,000</a:t>
            </a:r>
            <a:endParaRPr lang="en-US" sz="4800" dirty="0"/>
          </a:p>
        </p:txBody>
      </p:sp>
      <p:sp>
        <p:nvSpPr>
          <p:cNvPr id="10" name="Text 7"/>
          <p:cNvSpPr txBox="1"/>
          <p:nvPr/>
        </p:nvSpPr>
        <p:spPr>
          <a:xfrm>
            <a:off x="7909560" y="5413248"/>
            <a:ext cx="3733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>
                <a:solidFill>
                  <a:srgbClr val="FF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users</a:t>
            </a:r>
            <a:r>
              <a:rPr lang="en-US" sz="14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at the end of year 1: 500 paying, </a:t>
            </a:r>
            <a:r>
              <a:rPr lang="en-US" sz="1400" b="1" dirty="0">
                <a:solidFill>
                  <a:srgbClr val="FF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7500 </a:t>
            </a:r>
            <a:r>
              <a:rPr lang="en-US" sz="14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</a:t>
            </a:r>
            <a:endParaRPr lang="en-US" sz="1400" dirty="0"/>
          </a:p>
        </p:txBody>
      </p:sp>
      <p:sp>
        <p:nvSpPr>
          <p:cNvPr id="11" name="Footnote"/>
          <p:cNvSpPr txBox="1"/>
          <p:nvPr/>
        </p:nvSpPr>
        <p:spPr>
          <a:xfrm>
            <a:off x="548640" y="632764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Cost per user: AI at 10× list price, AI for 19 free users per payer, Stripe fees on monthly billing, hosting; net of VAT. Team and marketing are on the Ask slide.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50">
                <a:solidFill>
                  <a:schemeClr val="accent5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1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68547D-2975-B7FF-B6E9-ADAE8BA7C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>
            <a:extLst>
              <a:ext uri="{FF2B5EF4-FFF2-40B4-BE49-F238E27FC236}">
                <a16:creationId xmlns:a16="http://schemas.microsoft.com/office/drawing/2014/main" id="{BEE17435-07DA-3579-D90E-321C3594A8DA}"/>
              </a:ext>
            </a:extLst>
          </p:cNvPr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chemeClr val="accent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FUNDING</a:t>
            </a:r>
            <a:endParaRPr lang="en-US" sz="320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E75DF22-ED29-E8E8-B3A9-E43C4605DE30}"/>
              </a:ext>
            </a:extLst>
          </p:cNvPr>
          <p:cNvGrpSpPr/>
          <p:nvPr/>
        </p:nvGrpSpPr>
        <p:grpSpPr>
          <a:xfrm>
            <a:off x="7244182" y="884190"/>
            <a:ext cx="1534058" cy="1508760"/>
            <a:chOff x="5027143" y="1254073"/>
            <a:chExt cx="1534058" cy="1508760"/>
          </a:xfrm>
        </p:grpSpPr>
        <p:sp>
          <p:nvSpPr>
            <p:cNvPr id="21" name="Text 19">
              <a:extLst>
                <a:ext uri="{FF2B5EF4-FFF2-40B4-BE49-F238E27FC236}">
                  <a16:creationId xmlns:a16="http://schemas.microsoft.com/office/drawing/2014/main" id="{947E5198-72DF-7329-175E-464C2C18E6AE}"/>
                </a:ext>
              </a:extLst>
            </p:cNvPr>
            <p:cNvSpPr txBox="1"/>
            <p:nvPr/>
          </p:nvSpPr>
          <p:spPr>
            <a:xfrm>
              <a:off x="5027143" y="1254073"/>
              <a:ext cx="1534058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4800" b="1" dirty="0">
                  <a:solidFill>
                    <a:srgbClr val="FFC93C"/>
                  </a:solidFill>
                  <a:latin typeface="Oswald" pitchFamily="34" charset="0"/>
                  <a:ea typeface="Oswald" pitchFamily="34" charset="-122"/>
                  <a:cs typeface="Oswald" pitchFamily="34" charset="-120"/>
                </a:rPr>
                <a:t>€54k</a:t>
              </a:r>
              <a:endParaRPr lang="en-US" sz="4800" dirty="0">
                <a:solidFill>
                  <a:srgbClr val="FFC93C"/>
                </a:solidFill>
              </a:endParaRPr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D40342E6-75B2-2006-4E95-54F3AF05081F}"/>
                </a:ext>
              </a:extLst>
            </p:cNvPr>
            <p:cNvSpPr txBox="1"/>
            <p:nvPr/>
          </p:nvSpPr>
          <p:spPr>
            <a:xfrm>
              <a:off x="5027143" y="2031313"/>
              <a:ext cx="1396898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dirty="0">
                  <a:solidFill>
                    <a:schemeClr val="accent4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yearly run-rate at year end</a:t>
              </a:r>
              <a:endParaRPr lang="en-US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FE0352B-2E5F-EA51-2E1B-0886893B54E0}"/>
              </a:ext>
            </a:extLst>
          </p:cNvPr>
          <p:cNvGrpSpPr/>
          <p:nvPr/>
        </p:nvGrpSpPr>
        <p:grpSpPr>
          <a:xfrm>
            <a:off x="7244182" y="2805147"/>
            <a:ext cx="1534058" cy="1508760"/>
            <a:chOff x="6948347" y="1329376"/>
            <a:chExt cx="1534058" cy="1508760"/>
          </a:xfrm>
        </p:grpSpPr>
        <p:sp>
          <p:nvSpPr>
            <p:cNvPr id="23" name="Text 21">
              <a:extLst>
                <a:ext uri="{FF2B5EF4-FFF2-40B4-BE49-F238E27FC236}">
                  <a16:creationId xmlns:a16="http://schemas.microsoft.com/office/drawing/2014/main" id="{DAC75A6F-7C38-8B49-3979-B1D9D9ECD378}"/>
                </a:ext>
              </a:extLst>
            </p:cNvPr>
            <p:cNvSpPr txBox="1"/>
            <p:nvPr/>
          </p:nvSpPr>
          <p:spPr>
            <a:xfrm>
              <a:off x="6948347" y="1329376"/>
              <a:ext cx="1534058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4800" b="1" dirty="0">
                  <a:solidFill>
                    <a:srgbClr val="FFC93C"/>
                  </a:solidFill>
                  <a:latin typeface="Oswald" pitchFamily="34" charset="0"/>
                  <a:ea typeface="Oswald" pitchFamily="34" charset="-122"/>
                  <a:cs typeface="Oswald" pitchFamily="34" charset="-120"/>
                </a:rPr>
                <a:t>8,000</a:t>
              </a:r>
              <a:endParaRPr lang="en-US" sz="4800" dirty="0">
                <a:solidFill>
                  <a:srgbClr val="FFC93C"/>
                </a:solidFill>
              </a:endParaRPr>
            </a:p>
          </p:txBody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AD5F89B0-E494-6F82-B365-0743DBC5E9CC}"/>
                </a:ext>
              </a:extLst>
            </p:cNvPr>
            <p:cNvSpPr txBox="1"/>
            <p:nvPr/>
          </p:nvSpPr>
          <p:spPr>
            <a:xfrm>
              <a:off x="6948347" y="2106616"/>
              <a:ext cx="1396898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dirty="0">
                  <a:solidFill>
                    <a:schemeClr val="accent4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users in total, 7,500 of them free</a:t>
              </a:r>
              <a:endParaRPr lang="en-US" dirty="0"/>
            </a:p>
          </p:txBody>
        </p:sp>
      </p:grpSp>
      <p:sp>
        <p:nvSpPr>
          <p:cNvPr id="25" name="Footnote">
            <a:extLst>
              <a:ext uri="{FF2B5EF4-FFF2-40B4-BE49-F238E27FC236}">
                <a16:creationId xmlns:a16="http://schemas.microsoft.com/office/drawing/2014/main" id="{2870B0AD-F44F-4599-F09D-C43F749B2716}"/>
              </a:ext>
            </a:extLst>
          </p:cNvPr>
          <p:cNvSpPr txBox="1"/>
          <p:nvPr/>
        </p:nvSpPr>
        <p:spPr>
          <a:xfrm>
            <a:off x="548640" y="632764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Survey: 10 people we know who go to events, a first signal, not proof. Targets from the Syncy business plan; 19 free users per paying user.</a:t>
            </a:r>
            <a:endParaRPr lang="en-US" sz="1050" dirty="0"/>
          </a:p>
        </p:txBody>
      </p:sp>
      <p:sp>
        <p:nvSpPr>
          <p:cNvPr id="26" name="Slide Number Placeholder 0">
            <a:extLst>
              <a:ext uri="{FF2B5EF4-FFF2-40B4-BE49-F238E27FC236}">
                <a16:creationId xmlns:a16="http://schemas.microsoft.com/office/drawing/2014/main" id="{DA93482F-4F39-A73D-5414-5CC38AE145A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0140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50">
                <a:solidFill>
                  <a:schemeClr val="accent6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9BD902B-C86D-C528-74AA-124E4B725B12}"/>
              </a:ext>
            </a:extLst>
          </p:cNvPr>
          <p:cNvGrpSpPr/>
          <p:nvPr/>
        </p:nvGrpSpPr>
        <p:grpSpPr>
          <a:xfrm>
            <a:off x="785753" y="5047488"/>
            <a:ext cx="9832810" cy="978408"/>
            <a:chOff x="785753" y="5047488"/>
            <a:chExt cx="9832810" cy="978408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48B28168-1B0D-A678-8C25-7BEEEB4BB97A}"/>
                </a:ext>
              </a:extLst>
            </p:cNvPr>
            <p:cNvGrpSpPr/>
            <p:nvPr/>
          </p:nvGrpSpPr>
          <p:grpSpPr>
            <a:xfrm>
              <a:off x="785753" y="5047488"/>
              <a:ext cx="1512000" cy="978408"/>
              <a:chOff x="785753" y="5047488"/>
              <a:chExt cx="1512000" cy="978408"/>
            </a:xfrm>
          </p:grpSpPr>
          <p:sp>
            <p:nvSpPr>
              <p:cNvPr id="4" name="Text 5">
                <a:extLst>
                  <a:ext uri="{FF2B5EF4-FFF2-40B4-BE49-F238E27FC236}">
                    <a16:creationId xmlns:a16="http://schemas.microsoft.com/office/drawing/2014/main" id="{091B9A26-BB46-D639-DB8B-E98518129926}"/>
                  </a:ext>
                </a:extLst>
              </p:cNvPr>
              <p:cNvSpPr txBox="1"/>
              <p:nvPr/>
            </p:nvSpPr>
            <p:spPr>
              <a:xfrm>
                <a:off x="785753" y="5047488"/>
                <a:ext cx="1512000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chemeClr val="bg1"/>
                    </a:solidFill>
                    <a:latin typeface="DM Sans" pitchFamily="34" charset="0"/>
                    <a:ea typeface="DM Sans" pitchFamily="34" charset="-122"/>
                    <a:cs typeface="DM Sans" pitchFamily="34" charset="-120"/>
                  </a:rPr>
                  <a:t>Dec 2026</a:t>
                </a:r>
                <a:endParaRPr lang="en-US" sz="1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" name="Text 6">
                <a:extLst>
                  <a:ext uri="{FF2B5EF4-FFF2-40B4-BE49-F238E27FC236}">
                    <a16:creationId xmlns:a16="http://schemas.microsoft.com/office/drawing/2014/main" id="{E6C2F3F0-A671-BF06-F955-6C36A2B91256}"/>
                  </a:ext>
                </a:extLst>
              </p:cNvPr>
              <p:cNvSpPr txBox="1"/>
              <p:nvPr/>
            </p:nvSpPr>
            <p:spPr>
              <a:xfrm>
                <a:off x="785753" y="5385816"/>
                <a:ext cx="1512000" cy="6400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n-US" sz="1600" dirty="0">
                    <a:solidFill>
                      <a:schemeClr val="bg1"/>
                    </a:solidFill>
                    <a:latin typeface="DM Sans" pitchFamily="34" charset="0"/>
                    <a:ea typeface="DM Sans" pitchFamily="34" charset="-122"/>
                    <a:cs typeface="DM Sans" pitchFamily="34" charset="-120"/>
                  </a:rPr>
                  <a:t>20 pilot users</a:t>
                </a:r>
                <a:endParaRPr lang="en-US" sz="16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F3126E32-E0E3-1BA3-E28D-B58881244D94}"/>
                </a:ext>
              </a:extLst>
            </p:cNvPr>
            <p:cNvGrpSpPr/>
            <p:nvPr/>
          </p:nvGrpSpPr>
          <p:grpSpPr>
            <a:xfrm>
              <a:off x="3559356" y="5047488"/>
              <a:ext cx="1512000" cy="978408"/>
              <a:chOff x="3559357" y="5047488"/>
              <a:chExt cx="1512000" cy="978408"/>
            </a:xfrm>
          </p:grpSpPr>
          <p:sp>
            <p:nvSpPr>
              <p:cNvPr id="8" name="Text 7">
                <a:extLst>
                  <a:ext uri="{FF2B5EF4-FFF2-40B4-BE49-F238E27FC236}">
                    <a16:creationId xmlns:a16="http://schemas.microsoft.com/office/drawing/2014/main" id="{A1E0C14A-4348-A92D-867A-56760E1EADA4}"/>
                  </a:ext>
                </a:extLst>
              </p:cNvPr>
              <p:cNvSpPr txBox="1"/>
              <p:nvPr/>
            </p:nvSpPr>
            <p:spPr>
              <a:xfrm>
                <a:off x="3559357" y="5047488"/>
                <a:ext cx="1512000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chemeClr val="bg1"/>
                    </a:solidFill>
                    <a:latin typeface="DM Sans" pitchFamily="34" charset="0"/>
                    <a:ea typeface="DM Sans" pitchFamily="34" charset="-122"/>
                    <a:cs typeface="DM Sans" pitchFamily="34" charset="-120"/>
                  </a:rPr>
                  <a:t>Mar 2027</a:t>
                </a:r>
                <a:endParaRPr lang="en-US" sz="1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" name="Text 8">
                <a:extLst>
                  <a:ext uri="{FF2B5EF4-FFF2-40B4-BE49-F238E27FC236}">
                    <a16:creationId xmlns:a16="http://schemas.microsoft.com/office/drawing/2014/main" id="{28F646F5-B0EC-99C0-4B0F-B462E0EF0DED}"/>
                  </a:ext>
                </a:extLst>
              </p:cNvPr>
              <p:cNvSpPr txBox="1"/>
              <p:nvPr/>
            </p:nvSpPr>
            <p:spPr>
              <a:xfrm>
                <a:off x="3559357" y="5385816"/>
                <a:ext cx="1512000" cy="6400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n-US" sz="1600" dirty="0">
                    <a:solidFill>
                      <a:schemeClr val="bg1"/>
                    </a:solidFill>
                    <a:latin typeface="DM Sans" pitchFamily="34" charset="0"/>
                    <a:ea typeface="DM Sans" pitchFamily="34" charset="-122"/>
                    <a:cs typeface="DM Sans" pitchFamily="34" charset="-120"/>
                  </a:rPr>
                  <a:t>Paid launch</a:t>
                </a:r>
                <a:endParaRPr lang="en-US" sz="16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22E0FD2F-7BEC-67C3-354C-A40AC376D96C}"/>
                </a:ext>
              </a:extLst>
            </p:cNvPr>
            <p:cNvGrpSpPr/>
            <p:nvPr/>
          </p:nvGrpSpPr>
          <p:grpSpPr>
            <a:xfrm>
              <a:off x="6332959" y="5047488"/>
              <a:ext cx="1512000" cy="978408"/>
              <a:chOff x="6332961" y="5047488"/>
              <a:chExt cx="1512000" cy="978408"/>
            </a:xfrm>
          </p:grpSpPr>
          <p:sp>
            <p:nvSpPr>
              <p:cNvPr id="27" name="Text 9">
                <a:extLst>
                  <a:ext uri="{FF2B5EF4-FFF2-40B4-BE49-F238E27FC236}">
                    <a16:creationId xmlns:a16="http://schemas.microsoft.com/office/drawing/2014/main" id="{3CA2A0F7-0C60-E68A-EDEC-CD376C94D425}"/>
                  </a:ext>
                </a:extLst>
              </p:cNvPr>
              <p:cNvSpPr txBox="1"/>
              <p:nvPr/>
            </p:nvSpPr>
            <p:spPr>
              <a:xfrm>
                <a:off x="6332961" y="5047488"/>
                <a:ext cx="1512000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chemeClr val="bg1"/>
                    </a:solidFill>
                    <a:latin typeface="DM Sans" pitchFamily="34" charset="0"/>
                    <a:ea typeface="DM Sans" pitchFamily="34" charset="-122"/>
                    <a:cs typeface="DM Sans" pitchFamily="34" charset="-120"/>
                  </a:rPr>
                  <a:t>Aug 2027</a:t>
                </a:r>
                <a:endParaRPr lang="en-US" sz="1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Text 10">
                <a:extLst>
                  <a:ext uri="{FF2B5EF4-FFF2-40B4-BE49-F238E27FC236}">
                    <a16:creationId xmlns:a16="http://schemas.microsoft.com/office/drawing/2014/main" id="{955E4EF4-0C0E-93DF-5A9A-3708585758D6}"/>
                  </a:ext>
                </a:extLst>
              </p:cNvPr>
              <p:cNvSpPr txBox="1"/>
              <p:nvPr/>
            </p:nvSpPr>
            <p:spPr>
              <a:xfrm>
                <a:off x="6332961" y="5385816"/>
                <a:ext cx="1512000" cy="6400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n-US" sz="1600" dirty="0">
                    <a:solidFill>
                      <a:schemeClr val="bg1"/>
                    </a:solidFill>
                    <a:latin typeface="DM Sans" pitchFamily="34" charset="0"/>
                    <a:ea typeface="DM Sans" pitchFamily="34" charset="-122"/>
                    <a:cs typeface="DM Sans" pitchFamily="34" charset="-120"/>
                  </a:rPr>
                  <a:t>500 paying users</a:t>
                </a:r>
                <a:endParaRPr lang="en-US" sz="16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6B1BCA22-5C3D-5674-288E-A731EAB5D6DF}"/>
                </a:ext>
              </a:extLst>
            </p:cNvPr>
            <p:cNvGrpSpPr/>
            <p:nvPr/>
          </p:nvGrpSpPr>
          <p:grpSpPr>
            <a:xfrm>
              <a:off x="9106563" y="5047488"/>
              <a:ext cx="1512000" cy="978408"/>
              <a:chOff x="9106563" y="5047488"/>
              <a:chExt cx="1512000" cy="978408"/>
            </a:xfrm>
          </p:grpSpPr>
          <p:sp>
            <p:nvSpPr>
              <p:cNvPr id="31" name="Text 11">
                <a:extLst>
                  <a:ext uri="{FF2B5EF4-FFF2-40B4-BE49-F238E27FC236}">
                    <a16:creationId xmlns:a16="http://schemas.microsoft.com/office/drawing/2014/main" id="{794ED412-6896-FC99-7E37-C0583D3C5598}"/>
                  </a:ext>
                </a:extLst>
              </p:cNvPr>
              <p:cNvSpPr txBox="1"/>
              <p:nvPr/>
            </p:nvSpPr>
            <p:spPr>
              <a:xfrm>
                <a:off x="9106563" y="5047488"/>
                <a:ext cx="1512000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chemeClr val="bg1"/>
                    </a:solidFill>
                    <a:latin typeface="DM Sans" pitchFamily="34" charset="0"/>
                    <a:ea typeface="DM Sans" pitchFamily="34" charset="-122"/>
                    <a:cs typeface="DM Sans" pitchFamily="34" charset="-120"/>
                  </a:rPr>
                  <a:t>2028</a:t>
                </a:r>
                <a:endParaRPr lang="en-US" sz="1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Text 12">
                <a:extLst>
                  <a:ext uri="{FF2B5EF4-FFF2-40B4-BE49-F238E27FC236}">
                    <a16:creationId xmlns:a16="http://schemas.microsoft.com/office/drawing/2014/main" id="{02372EC3-6850-BD6D-5944-39D687F1138B}"/>
                  </a:ext>
                </a:extLst>
              </p:cNvPr>
              <p:cNvSpPr txBox="1"/>
              <p:nvPr/>
            </p:nvSpPr>
            <p:spPr>
              <a:xfrm>
                <a:off x="9106563" y="5385816"/>
                <a:ext cx="1512000" cy="6400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n-US" sz="1600" dirty="0">
                    <a:solidFill>
                      <a:schemeClr val="bg1"/>
                    </a:solidFill>
                    <a:latin typeface="DM Sans" pitchFamily="34" charset="0"/>
                  </a:rPr>
                  <a:t>Expansion</a:t>
                </a:r>
              </a:p>
              <a:p>
                <a:pPr marL="0" indent="0">
                  <a:buNone/>
                </a:pPr>
                <a:r>
                  <a:rPr lang="en-US" sz="1600" dirty="0">
                    <a:solidFill>
                      <a:schemeClr val="bg1"/>
                    </a:solidFill>
                    <a:latin typeface="DM Sans" pitchFamily="34" charset="0"/>
                  </a:rPr>
                  <a:t>Across Europe</a:t>
                </a:r>
                <a:endParaRPr lang="en-US" sz="1600" dirty="0">
                  <a:solidFill>
                    <a:schemeClr val="bg1"/>
                  </a:solidFill>
                </a:endParaRPr>
              </a:p>
            </p:txBody>
          </p:sp>
        </p:grp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604A9FA-7CD7-5088-601E-B95E5686080B}"/>
              </a:ext>
            </a:extLst>
          </p:cNvPr>
          <p:cNvCxnSpPr>
            <a:cxnSpLocks/>
          </p:cNvCxnSpPr>
          <p:nvPr/>
        </p:nvCxnSpPr>
        <p:spPr>
          <a:xfrm>
            <a:off x="1111622" y="4840941"/>
            <a:ext cx="82027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4B30C0A4-90C9-24BC-960D-868113DECF46}"/>
              </a:ext>
            </a:extLst>
          </p:cNvPr>
          <p:cNvSpPr/>
          <p:nvPr/>
        </p:nvSpPr>
        <p:spPr>
          <a:xfrm>
            <a:off x="1102656" y="4806427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4FA1D74-4E6A-3AB0-240E-3C5AEAF2A98C}"/>
              </a:ext>
            </a:extLst>
          </p:cNvPr>
          <p:cNvSpPr/>
          <p:nvPr/>
        </p:nvSpPr>
        <p:spPr>
          <a:xfrm>
            <a:off x="3848396" y="4806427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A650BDE8-E6B9-6F05-00F3-5C549248EFAF}"/>
              </a:ext>
            </a:extLst>
          </p:cNvPr>
          <p:cNvSpPr/>
          <p:nvPr/>
        </p:nvSpPr>
        <p:spPr>
          <a:xfrm>
            <a:off x="6629696" y="4806427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FBAD2F6B-D07E-B38E-FFD9-A12ABEAC0878}"/>
              </a:ext>
            </a:extLst>
          </p:cNvPr>
          <p:cNvSpPr/>
          <p:nvPr/>
        </p:nvSpPr>
        <p:spPr>
          <a:xfrm>
            <a:off x="9278329" y="4806427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Text 1">
            <a:extLst>
              <a:ext uri="{FF2B5EF4-FFF2-40B4-BE49-F238E27FC236}">
                <a16:creationId xmlns:a16="http://schemas.microsoft.com/office/drawing/2014/main" id="{1364655D-48D4-745E-41AF-E7066C28978B}"/>
              </a:ext>
            </a:extLst>
          </p:cNvPr>
          <p:cNvSpPr txBox="1"/>
          <p:nvPr/>
        </p:nvSpPr>
        <p:spPr>
          <a:xfrm>
            <a:off x="548640" y="1638749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0" b="1" dirty="0">
                <a:solidFill>
                  <a:schemeClr val="bg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€220k</a:t>
            </a:r>
            <a:endParaRPr lang="en-US" sz="13200" dirty="0">
              <a:solidFill>
                <a:schemeClr val="bg1"/>
              </a:solidFill>
            </a:endParaRPr>
          </a:p>
        </p:txBody>
      </p:sp>
      <p:sp>
        <p:nvSpPr>
          <p:cNvPr id="62" name="Text 2">
            <a:extLst>
              <a:ext uri="{FF2B5EF4-FFF2-40B4-BE49-F238E27FC236}">
                <a16:creationId xmlns:a16="http://schemas.microsoft.com/office/drawing/2014/main" id="{6E11F114-68A0-0A4E-DD82-7EF5A526C5CB}"/>
              </a:ext>
            </a:extLst>
          </p:cNvPr>
          <p:cNvSpPr txBox="1"/>
          <p:nvPr/>
        </p:nvSpPr>
        <p:spPr>
          <a:xfrm>
            <a:off x="548640" y="3513269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the first 12 months, team of 4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0908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1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1500" b="0" i="0" u="none" strike="noStrike" kern="1200" baseline="0">
                <a:solidFill>
                  <a:srgbClr val="15110E"/>
                </a:solidFill>
                <a:latin typeface="+mn-lt"/>
                <a:ea typeface="+mn-ea"/>
                <a:cs typeface="+mn-cs"/>
              </a:defRPr>
            </a:pPr>
            <a:r>
              <a:rPr lang="en-IN" sz="3200" b="1" dirty="0">
                <a:solidFill>
                  <a:schemeClr val="accent2"/>
                </a:solidFill>
              </a:rPr>
              <a:t>USE OF FUNDS</a:t>
            </a:r>
          </a:p>
        </p:txBody>
      </p:sp>
      <p:graphicFrame>
        <p:nvGraphicFramePr>
          <p:cNvPr id="6" name="Use of funds chart"/>
          <p:cNvGraphicFramePr/>
          <p:nvPr>
            <p:extLst>
              <p:ext uri="{D42A27DB-BD31-4B8C-83A1-F6EECF244321}">
                <p14:modId xmlns:p14="http://schemas.microsoft.com/office/powerpoint/2010/main" val="1075525538"/>
              </p:ext>
            </p:extLst>
          </p:nvPr>
        </p:nvGraphicFramePr>
        <p:xfrm>
          <a:off x="548640" y="1513187"/>
          <a:ext cx="10527399" cy="44746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526280"/>
            <a:ext cx="11094415" cy="0"/>
          </a:xfrm>
          <a:prstGeom prst="line">
            <a:avLst/>
          </a:prstGeom>
          <a:noFill/>
          <a:ln w="25400">
            <a:solidFill>
              <a:schemeClr val="accent6">
                <a:lumMod val="40000"/>
                <a:lumOff val="60000"/>
                <a:alpha val="1000"/>
              </a:schemeClr>
            </a:solidFill>
            <a:prstDash val="solid"/>
          </a:ln>
        </p:spPr>
      </p:sp>
      <p:sp>
        <p:nvSpPr>
          <p:cNvPr id="16" name="Footnote"/>
          <p:cNvSpPr txBox="1"/>
          <p:nvPr/>
        </p:nvSpPr>
        <p:spPr>
          <a:xfrm>
            <a:off x="548640" y="632764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Founder salaries €2,500 a month. Year-1 cost €228k minus about €11k revenue. At Berlin market salaries the plan needs about €480k.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50">
                <a:solidFill>
                  <a:schemeClr val="tx1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79120" y="7315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Syncy</a:t>
            </a:r>
            <a:endParaRPr lang="en-US" sz="4000" dirty="0"/>
          </a:p>
        </p:txBody>
      </p:sp>
      <p:sp>
        <p:nvSpPr>
          <p:cNvPr id="5" name="Motto"/>
          <p:cNvSpPr txBox="1"/>
          <p:nvPr/>
        </p:nvSpPr>
        <p:spPr>
          <a:xfrm>
            <a:off x="579120" y="269748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more wincing at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“who was that?”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166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Thank you. Questions?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035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 Syncy · BCBT AI Entrepreneurship Hackathon · CIC Berlin</a:t>
            </a:r>
            <a:endParaRPr lang="en-US" sz="13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5197050-45E6-6EF8-750C-69220B821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0662" y="996950"/>
            <a:ext cx="4178300" cy="486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298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IT SAVES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944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18 hours and €1,890 back per person, every year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dirty="0">
                <a:solidFill>
                  <a:schemeClr val="tx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8 → 2</a:t>
            </a:r>
            <a:endParaRPr lang="en-US" sz="8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minutes per contact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3886200"/>
            <a:ext cx="365760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0233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chemeClr val="tx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17×</a:t>
            </a:r>
            <a:endParaRPr lang="en-US" sz="6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983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€108 yearly price of Pro, paid back in billable time</a:t>
            </a:r>
            <a:endParaRPr lang="en-US" sz="1500" dirty="0"/>
          </a:p>
        </p:txBody>
      </p:sp>
      <p:graphicFrame>
        <p:nvGraphicFramePr>
          <p:cNvPr id="9" name="Savings table"/>
          <p:cNvGraphicFramePr>
            <a:graphicFrameLocks noGrp="1"/>
          </p:cNvGraphicFramePr>
          <p:nvPr/>
        </p:nvGraphicFramePr>
        <p:xfrm>
          <a:off x="4892040" y="2103120"/>
          <a:ext cx="6748272" cy="2834640"/>
        </p:xfrm>
        <a:graphic>
          <a:graphicData uri="http://schemas.openxmlformats.org/drawingml/2006/table">
            <a:tbl>
              <a:tblPr/>
              <a:tblGrid>
                <a:gridCol w="1993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6B1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Per contact</a:t>
                      </a:r>
                      <a:endParaRPr lang="en-US" sz="17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6B1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Per month</a:t>
                      </a:r>
                      <a:endParaRPr lang="en-US" sz="17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6B1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Per year</a:t>
                      </a:r>
                      <a:endParaRPr lang="en-US" sz="17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7F0E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Time today</a:t>
                      </a:r>
                      <a:endParaRPr lang="en-US" sz="17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D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F7F0E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8 min</a:t>
                      </a:r>
                      <a:endParaRPr lang="en-US" sz="17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D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F7F0E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2.6 h</a:t>
                      </a:r>
                      <a:endParaRPr lang="en-US" sz="17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D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F7F0E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27 h</a:t>
                      </a:r>
                      <a:endParaRPr lang="en-US" sz="17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D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7F0E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With Syncy</a:t>
                      </a:r>
                      <a:endParaRPr lang="en-US" sz="17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D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F7F0E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 min</a:t>
                      </a:r>
                      <a:endParaRPr lang="en-US" sz="17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D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F7F0E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0.7 h</a:t>
                      </a:r>
                      <a:endParaRPr lang="en-US" sz="17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D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F7F0E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8 h</a:t>
                      </a:r>
                      <a:endParaRPr lang="en-US" sz="17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D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C93C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Time saved</a:t>
                      </a:r>
                      <a:endParaRPr lang="en-US" sz="17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D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C93C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6 min</a:t>
                      </a:r>
                      <a:endParaRPr lang="en-US" sz="17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D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C93C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 h</a:t>
                      </a:r>
                      <a:endParaRPr lang="en-US" sz="17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D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C93C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24 h</a:t>
                      </a:r>
                      <a:endParaRPr lang="en-US" sz="17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D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C93C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Value saved</a:t>
                      </a:r>
                      <a:endParaRPr lang="en-US" sz="17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D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C93C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€9</a:t>
                      </a:r>
                      <a:endParaRPr lang="en-US" sz="17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D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C93C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€157</a:t>
                      </a:r>
                      <a:endParaRPr lang="en-US" sz="17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D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C93C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€1,890</a:t>
                      </a:r>
                      <a:endParaRPr lang="en-US" sz="17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D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Footnote"/>
          <p:cNvSpPr txBox="1"/>
          <p:nvPr/>
        </p:nvSpPr>
        <p:spPr>
          <a:xfrm>
            <a:off x="548640" y="632764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estimates: 200 contacts a year (about 17 a month), €103 an hour. We time the 2 minutes live in the demo.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50">
                <a:solidFill>
                  <a:schemeClr val="tx1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191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9" y="0"/>
            <a:ext cx="12192000" cy="6858000"/>
            <a:chOff x="0" y="0"/>
            <a:chExt cx="16256000" cy="914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256000" cy="9144000"/>
            </a:xfrm>
            <a:custGeom>
              <a:avLst/>
              <a:gdLst/>
              <a:ahLst/>
              <a:cxnLst/>
              <a:rect l="l" t="t" r="r" b="b"/>
              <a:pathLst>
                <a:path w="16256000" h="9144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12797" y="834190"/>
            <a:ext cx="10568245" cy="5477180"/>
            <a:chOff x="0" y="0"/>
            <a:chExt cx="14090993" cy="7302906"/>
          </a:xfrm>
        </p:grpSpPr>
        <p:sp>
          <p:nvSpPr>
            <p:cNvPr id="5" name="TextBox 5"/>
            <p:cNvSpPr txBox="1"/>
            <p:nvPr/>
          </p:nvSpPr>
          <p:spPr>
            <a:xfrm>
              <a:off x="0" y="19050"/>
              <a:ext cx="11986717" cy="17665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en-US" sz="1400" spc="26" dirty="0" err="1">
                  <a:solidFill>
                    <a:srgbClr val="000000">
                      <a:alpha val="0"/>
                    </a:srgbClr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asdasdasd</a:t>
              </a:r>
              <a:r>
                <a:rPr lang="en-US" sz="1400" spc="26" dirty="0">
                  <a:solidFill>
                    <a:srgbClr val="000000">
                      <a:alpha val="0"/>
                    </a:srgbClr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 tools</a:t>
              </a:r>
            </a:p>
            <a:p>
              <a:pPr algn="l">
                <a:lnSpc>
                  <a:spcPts val="4410"/>
                </a:lnSpc>
              </a:pPr>
              <a:r>
                <a:rPr lang="en-US" sz="4200" spc="79" dirty="0">
                  <a:solidFill>
                    <a:srgbClr val="000000">
                      <a:alpha val="0"/>
                    </a:srgbClr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One saves it. One stores it. Neither </a:t>
              </a:r>
            </a:p>
            <a:p>
              <a:pPr algn="l">
                <a:lnSpc>
                  <a:spcPts val="4410"/>
                </a:lnSpc>
              </a:pPr>
              <a:r>
                <a:rPr lang="en-US" sz="4200" spc="79" dirty="0">
                  <a:solidFill>
                    <a:srgbClr val="000000">
                      <a:alpha val="0"/>
                    </a:srgbClr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tells you what to do.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06400" y="3352559"/>
              <a:ext cx="2467623" cy="28127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2896"/>
                </a:lnSpc>
              </a:pPr>
              <a:r>
                <a:rPr lang="en-US" sz="6600" spc="125">
                  <a:solidFill>
                    <a:srgbClr val="000000">
                      <a:alpha val="0"/>
                    </a:srgbClr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SAVE</a:t>
              </a:r>
            </a:p>
            <a:p>
              <a:pPr algn="l">
                <a:lnSpc>
                  <a:spcPts val="3126"/>
                </a:lnSpc>
              </a:pPr>
              <a:r>
                <a:rPr lang="en-US" sz="1599" spc="30">
                  <a:solidFill>
                    <a:srgbClr val="000000">
                      <a:alpha val="0"/>
                    </a:srgbClr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HiHello · Blinq · Popl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192776" y="3352559"/>
              <a:ext cx="2945740" cy="28127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2896"/>
                </a:lnSpc>
              </a:pPr>
              <a:r>
                <a:rPr lang="en-US" sz="6600" spc="125">
                  <a:solidFill>
                    <a:srgbClr val="000000">
                      <a:alpha val="0"/>
                    </a:srgbClr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STORE</a:t>
              </a:r>
            </a:p>
            <a:p>
              <a:pPr algn="l">
                <a:lnSpc>
                  <a:spcPts val="3126"/>
                </a:lnSpc>
              </a:pPr>
              <a:r>
                <a:rPr lang="en-US" sz="1599" spc="30">
                  <a:solidFill>
                    <a:srgbClr val="000000">
                      <a:alpha val="0"/>
                    </a:srgbClr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Dex · Covve · folk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979317" y="3695459"/>
              <a:ext cx="3379457" cy="24698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240"/>
                </a:lnSpc>
              </a:pPr>
              <a:r>
                <a:rPr lang="en-US" sz="6600" spc="125">
                  <a:solidFill>
                    <a:srgbClr val="000000">
                      <a:alpha val="0"/>
                    </a:srgbClr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ACT</a:t>
              </a:r>
            </a:p>
            <a:p>
              <a:pPr algn="l">
                <a:lnSpc>
                  <a:spcPts val="2239"/>
                </a:lnSpc>
              </a:pPr>
              <a:r>
                <a:rPr lang="en-US" sz="1599" spc="30">
                  <a:solidFill>
                    <a:srgbClr val="000000">
                      <a:alpha val="0"/>
                    </a:srgbClr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Your next step, per project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7053986"/>
              <a:ext cx="7059066" cy="248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spc="22">
                  <a:solidFill>
                    <a:srgbClr val="000000">
                      <a:alpha val="0"/>
                    </a:srgbClr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Competitor groups from public pricing and product pages, October 2026.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968476" y="7053986"/>
              <a:ext cx="122517" cy="248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spc="22">
                  <a:solidFill>
                    <a:srgbClr val="000000">
                      <a:alpha val="0"/>
                    </a:srgbClr>
                  </a:solidFill>
                  <a:latin typeface="IBM Plex Sans Condensed"/>
                  <a:ea typeface="IBM Plex Sans Condensed"/>
                  <a:cs typeface="IBM Plex Sans Condensed"/>
                  <a:sym typeface="IBM Plex Sans Condensed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81279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chemeClr val="accent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COMPETITION</a:t>
            </a:r>
            <a:endParaRPr lang="en-US" sz="3600" dirty="0"/>
          </a:p>
        </p:txBody>
      </p:sp>
      <p:graphicFrame>
        <p:nvGraphicFramePr>
          <p:cNvPr id="10" name="Competitor table"/>
          <p:cNvGraphicFramePr>
            <a:graphicFrameLocks noGrp="1"/>
          </p:cNvGraphicFramePr>
          <p:nvPr/>
        </p:nvGraphicFramePr>
        <p:xfrm>
          <a:off x="548640" y="2148840"/>
          <a:ext cx="11094415" cy="305206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17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7F0E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Tool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7F0E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AI voice notes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7F0E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Matches your projects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7F0E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Follow-up draft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7F0E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Built for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7F0E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Price a month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Syncy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Yes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Yes, from your Notion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Yes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One consultant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€9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Popl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Yes, AI Recorder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A4F4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Not seen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Yes, next steps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Event teams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Sales-led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folk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Yes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A4F4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Not seen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Yes, recaps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Small-team CRM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€22–27 a seat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Blinq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Yes, AI Notetaker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A4F4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Not seen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A4F4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Not seen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Digital cards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$9.99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Dex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Voice mode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A4F4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Not seen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A4F4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Not seen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Personal CRM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$20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LinkedIn + notes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A4F4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Manual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A4F4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A4F4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Everyone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€0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Footnote"/>
          <p:cNvSpPr txBox="1"/>
          <p:nvPr/>
        </p:nvSpPr>
        <p:spPr>
          <a:xfrm>
            <a:off x="548640" y="632764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Desk research of vendor pricing and help pages, 25 Oct 2026. "Not seen" = not found there. List prices; they change.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50">
                <a:solidFill>
                  <a:schemeClr val="accent5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1929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2D426B4-4E64-5F0E-B833-70E565795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>
            <a:extLst>
              <a:ext uri="{FF2B5EF4-FFF2-40B4-BE49-F238E27FC236}">
                <a16:creationId xmlns:a16="http://schemas.microsoft.com/office/drawing/2014/main" id="{53C97BC7-C2DD-F074-411A-A7936B87C532}"/>
              </a:ext>
            </a:extLst>
          </p:cNvPr>
          <p:cNvSpPr txBox="1"/>
          <p:nvPr/>
        </p:nvSpPr>
        <p:spPr>
          <a:xfrm>
            <a:off x="348136" y="3711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chemeClr val="accent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COST TO RUN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E552C6E-7FBA-F5E4-015B-5B3D5DC5536B}"/>
              </a:ext>
            </a:extLst>
          </p:cNvPr>
          <p:cNvSpPr txBox="1"/>
          <p:nvPr/>
        </p:nvSpPr>
        <p:spPr>
          <a:xfrm>
            <a:off x="348136" y="3107568"/>
            <a:ext cx="536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per contact, 60-second voice memo</a:t>
            </a:r>
            <a:endParaRPr lang="en-US" sz="1500" dirty="0"/>
          </a:p>
        </p:txBody>
      </p:sp>
      <p:graphicFrame>
        <p:nvGraphicFramePr>
          <p:cNvPr id="7" name="AI cost table">
            <a:extLst>
              <a:ext uri="{FF2B5EF4-FFF2-40B4-BE49-F238E27FC236}">
                <a16:creationId xmlns:a16="http://schemas.microsoft.com/office/drawing/2014/main" id="{8646DF1C-449B-A2D2-540F-B3D0EF9EFAE1}"/>
              </a:ext>
            </a:extLst>
          </p:cNvPr>
          <p:cNvGraphicFramePr>
            <a:graphicFrameLocks noGrp="1"/>
          </p:cNvGraphicFramePr>
          <p:nvPr/>
        </p:nvGraphicFramePr>
        <p:xfrm>
          <a:off x="348136" y="3416458"/>
          <a:ext cx="5454396" cy="2057400"/>
        </p:xfrm>
        <a:graphic>
          <a:graphicData uri="http://schemas.openxmlformats.org/drawingml/2006/table">
            <a:tbl>
              <a:tblPr/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24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7F0E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API call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7F0E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Usage (in + out)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7F0E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Cost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Whisper transcription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60 seconds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Oswald" pitchFamily="34" charset="0"/>
                          <a:ea typeface="Oswald" pitchFamily="34" charset="-122"/>
                          <a:cs typeface="Arial" panose="020B0604020202020204" pitchFamily="34" charset="0"/>
                        </a:rPr>
                        <a:t>€</a:t>
                      </a: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0.00018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Summary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800 + 120 tokens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Oswald" pitchFamily="34" charset="0"/>
                          <a:ea typeface="Oswald" pitchFamily="34" charset="-122"/>
                          <a:cs typeface="Arial" panose="020B0604020202020204" pitchFamily="34" charset="0"/>
                        </a:rPr>
                        <a:t>€</a:t>
                      </a: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0.00014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Match + follow-up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1,200 + 180 tokens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Oswald" pitchFamily="34" charset="0"/>
                          <a:ea typeface="Oswald" pitchFamily="34" charset="-122"/>
                          <a:cs typeface="Arial" panose="020B0604020202020204" pitchFamily="34" charset="0"/>
                        </a:rPr>
                        <a:t>€</a:t>
                      </a: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0.00021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Total per contact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Oswald" pitchFamily="34" charset="0"/>
                          <a:ea typeface="Oswald" pitchFamily="34" charset="-122"/>
                          <a:cs typeface="Arial" panose="020B0604020202020204" pitchFamily="34" charset="0"/>
                        </a:rPr>
                        <a:t>€</a:t>
                      </a:r>
                      <a:r>
                        <a:rPr lang="en-US" sz="1400" b="1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0.00053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>
            <a:extLst>
              <a:ext uri="{FF2B5EF4-FFF2-40B4-BE49-F238E27FC236}">
                <a16:creationId xmlns:a16="http://schemas.microsoft.com/office/drawing/2014/main" id="{E95CAA03-90BF-54CC-50F6-7A2CC1DC5CB5}"/>
              </a:ext>
            </a:extLst>
          </p:cNvPr>
          <p:cNvSpPr txBox="1"/>
          <p:nvPr/>
        </p:nvSpPr>
        <p:spPr>
          <a:xfrm>
            <a:off x="6287693" y="3096418"/>
            <a:ext cx="536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Fixed services, per year</a:t>
            </a:r>
            <a:endParaRPr lang="en-US" sz="1500" dirty="0"/>
          </a:p>
        </p:txBody>
      </p:sp>
      <p:graphicFrame>
        <p:nvGraphicFramePr>
          <p:cNvPr id="13" name="Fixed cost table">
            <a:extLst>
              <a:ext uri="{FF2B5EF4-FFF2-40B4-BE49-F238E27FC236}">
                <a16:creationId xmlns:a16="http://schemas.microsoft.com/office/drawing/2014/main" id="{4BC2923F-DCF1-E619-2CA9-C59254EB8331}"/>
              </a:ext>
            </a:extLst>
          </p:cNvPr>
          <p:cNvGraphicFramePr>
            <a:graphicFrameLocks noGrp="1"/>
          </p:cNvGraphicFramePr>
          <p:nvPr/>
        </p:nvGraphicFramePr>
        <p:xfrm>
          <a:off x="6278728" y="3417347"/>
          <a:ext cx="5454396" cy="2304288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67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7F0E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Service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7F0E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Plan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7F0E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Per year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Supabase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Pro, up to 100k MAU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Oswald" pitchFamily="34" charset="0"/>
                          <a:ea typeface="Oswald" pitchFamily="34" charset="-122"/>
                          <a:cs typeface="Arial" panose="020B0604020202020204" pitchFamily="34" charset="0"/>
                        </a:rPr>
                        <a:t>€</a:t>
                      </a: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300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Vercel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Pro, one seat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Oswald" pitchFamily="34" charset="0"/>
                          <a:ea typeface="Oswald" pitchFamily="34" charset="-122"/>
                          <a:cs typeface="Arial" panose="020B0604020202020204" pitchFamily="34" charset="0"/>
                        </a:rPr>
                        <a:t>€</a:t>
                      </a: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240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Domain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Cloudflare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Oswald" pitchFamily="34" charset="0"/>
                          <a:ea typeface="Oswald" pitchFamily="34" charset="-122"/>
                          <a:cs typeface="Arial" panose="020B0604020202020204" pitchFamily="34" charset="0"/>
                        </a:rPr>
                        <a:t>€</a:t>
                      </a: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10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Email, Google sign-in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Free tiers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Oswald" pitchFamily="34" charset="0"/>
                          <a:ea typeface="Oswald" pitchFamily="34" charset="-122"/>
                          <a:cs typeface="Arial" panose="020B0604020202020204" pitchFamily="34" charset="0"/>
                        </a:rPr>
                        <a:t>€</a:t>
                      </a: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Total fixed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Oswald" pitchFamily="34" charset="0"/>
                          <a:ea typeface="Oswald" pitchFamily="34" charset="-122"/>
                          <a:cs typeface="Arial" panose="020B0604020202020204" pitchFamily="34" charset="0"/>
                        </a:rPr>
                        <a:t>€</a:t>
                      </a:r>
                      <a:r>
                        <a:rPr lang="en-US" sz="1400" b="1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550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Footnote">
            <a:extLst>
              <a:ext uri="{FF2B5EF4-FFF2-40B4-BE49-F238E27FC236}">
                <a16:creationId xmlns:a16="http://schemas.microsoft.com/office/drawing/2014/main" id="{97C5DEB5-CA07-0403-AE1C-A70D75565B3D}"/>
              </a:ext>
            </a:extLst>
          </p:cNvPr>
          <p:cNvSpPr txBox="1"/>
          <p:nvPr/>
        </p:nvSpPr>
        <p:spPr>
          <a:xfrm>
            <a:off x="548640" y="632764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OpenRouter list prices, Oct 2026: GPT-6 Luna and Whisper Large V3 Turbo. The year-1 budget adds a 10× AI buffer and the free users. The MVP was built in 4 days.</a:t>
            </a:r>
            <a:endParaRPr lang="en-US" sz="105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3B113D78-B48E-819A-80B6-1A6E6BEF764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0140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50">
                <a:solidFill>
                  <a:schemeClr val="accent5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095B517-3F80-6B6B-D842-8525F712C139}"/>
              </a:ext>
            </a:extLst>
          </p:cNvPr>
          <p:cNvGrpSpPr/>
          <p:nvPr/>
        </p:nvGrpSpPr>
        <p:grpSpPr>
          <a:xfrm>
            <a:off x="348136" y="1008711"/>
            <a:ext cx="3210852" cy="1512077"/>
            <a:chOff x="348136" y="1008711"/>
            <a:chExt cx="3210852" cy="1512077"/>
          </a:xfrm>
        </p:grpSpPr>
        <p:sp>
          <p:nvSpPr>
            <p:cNvPr id="37" name="Today step 1">
              <a:extLst>
                <a:ext uri="{FF2B5EF4-FFF2-40B4-BE49-F238E27FC236}">
                  <a16:creationId xmlns:a16="http://schemas.microsoft.com/office/drawing/2014/main" id="{7DFDE08D-9DFB-A246-2A7A-B1AD7180AB5E}"/>
                </a:ext>
              </a:extLst>
            </p:cNvPr>
            <p:cNvSpPr/>
            <p:nvPr/>
          </p:nvSpPr>
          <p:spPr>
            <a:xfrm>
              <a:off x="348136" y="1008711"/>
              <a:ext cx="3210852" cy="1512077"/>
            </a:xfrm>
            <a:prstGeom prst="roundRect">
              <a:avLst>
                <a:gd name="adj" fmla="val 8000"/>
              </a:avLst>
            </a:prstGeom>
            <a:solidFill>
              <a:srgbClr val="EADFCB">
                <a:alpha val="74902"/>
              </a:srgbClr>
            </a:solidFill>
            <a:ln/>
          </p:spPr>
        </p:sp>
        <p:sp>
          <p:nvSpPr>
            <p:cNvPr id="18" name="Text 4">
              <a:extLst>
                <a:ext uri="{FF2B5EF4-FFF2-40B4-BE49-F238E27FC236}">
                  <a16:creationId xmlns:a16="http://schemas.microsoft.com/office/drawing/2014/main" id="{670F9273-7467-5253-BF97-51D0C38B8B97}"/>
                </a:ext>
              </a:extLst>
            </p:cNvPr>
            <p:cNvSpPr txBox="1"/>
            <p:nvPr/>
          </p:nvSpPr>
          <p:spPr>
            <a:xfrm>
              <a:off x="485886" y="1224000"/>
              <a:ext cx="2884842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00" b="1" dirty="0">
                  <a:solidFill>
                    <a:schemeClr val="accent3"/>
                  </a:solidFill>
                  <a:latin typeface="Oswald" pitchFamily="34" charset="0"/>
                  <a:ea typeface="Oswald" pitchFamily="34" charset="-122"/>
                  <a:cs typeface="Arial" panose="020B0604020202020204" pitchFamily="34" charset="0"/>
                </a:rPr>
                <a:t>€</a:t>
              </a:r>
              <a:r>
                <a:rPr lang="en-US" sz="4800" b="1" dirty="0">
                  <a:solidFill>
                    <a:schemeClr val="accent3"/>
                  </a:solidFill>
                  <a:latin typeface="Oswald" pitchFamily="34" charset="0"/>
                  <a:ea typeface="Oswald" pitchFamily="34" charset="-122"/>
                  <a:cs typeface="Oswald" pitchFamily="34" charset="-120"/>
                </a:rPr>
                <a:t>0.11</a:t>
              </a:r>
              <a:endParaRPr lang="en-US" sz="4800" dirty="0"/>
            </a:p>
          </p:txBody>
        </p:sp>
        <p:sp>
          <p:nvSpPr>
            <p:cNvPr id="20" name="Text 5">
              <a:extLst>
                <a:ext uri="{FF2B5EF4-FFF2-40B4-BE49-F238E27FC236}">
                  <a16:creationId xmlns:a16="http://schemas.microsoft.com/office/drawing/2014/main" id="{4977B7F8-EB97-CBF6-B7B5-8F44185A18D4}"/>
                </a:ext>
              </a:extLst>
            </p:cNvPr>
            <p:cNvSpPr txBox="1"/>
            <p:nvPr/>
          </p:nvSpPr>
          <p:spPr>
            <a:xfrm>
              <a:off x="485885" y="1891464"/>
              <a:ext cx="2884842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chemeClr val="accent5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AI</a:t>
              </a:r>
              <a:r>
                <a:rPr lang="en-US" sz="1400" dirty="0">
                  <a:solidFill>
                    <a:schemeClr val="accent5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for one paying customer a year, at 200 contacts</a:t>
              </a:r>
              <a:endParaRPr lang="en-US" sz="1400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7E930FB-D276-4EBC-739D-5BE7DBF345F6}"/>
              </a:ext>
            </a:extLst>
          </p:cNvPr>
          <p:cNvGrpSpPr/>
          <p:nvPr/>
        </p:nvGrpSpPr>
        <p:grpSpPr>
          <a:xfrm>
            <a:off x="4435204" y="1004770"/>
            <a:ext cx="3210852" cy="1512077"/>
            <a:chOff x="3970468" y="1004770"/>
            <a:chExt cx="3210852" cy="1512077"/>
          </a:xfrm>
        </p:grpSpPr>
        <p:sp>
          <p:nvSpPr>
            <p:cNvPr id="39" name="Today step 1">
              <a:extLst>
                <a:ext uri="{FF2B5EF4-FFF2-40B4-BE49-F238E27FC236}">
                  <a16:creationId xmlns:a16="http://schemas.microsoft.com/office/drawing/2014/main" id="{31727F4D-8450-4DFD-3932-86BBDA9EE089}"/>
                </a:ext>
              </a:extLst>
            </p:cNvPr>
            <p:cNvSpPr/>
            <p:nvPr/>
          </p:nvSpPr>
          <p:spPr>
            <a:xfrm>
              <a:off x="3970468" y="1004770"/>
              <a:ext cx="3210852" cy="1512077"/>
            </a:xfrm>
            <a:prstGeom prst="roundRect">
              <a:avLst>
                <a:gd name="adj" fmla="val 8000"/>
              </a:avLst>
            </a:prstGeom>
            <a:solidFill>
              <a:srgbClr val="EADFCB">
                <a:alpha val="74902"/>
              </a:srgbClr>
            </a:solidFill>
            <a:ln/>
          </p:spPr>
        </p:sp>
        <p:sp>
          <p:nvSpPr>
            <p:cNvPr id="22" name="Text 6">
              <a:extLst>
                <a:ext uri="{FF2B5EF4-FFF2-40B4-BE49-F238E27FC236}">
                  <a16:creationId xmlns:a16="http://schemas.microsoft.com/office/drawing/2014/main" id="{90C36FBA-1A57-57BE-9F37-7EAF568891EF}"/>
                </a:ext>
              </a:extLst>
            </p:cNvPr>
            <p:cNvSpPr txBox="1"/>
            <p:nvPr/>
          </p:nvSpPr>
          <p:spPr>
            <a:xfrm>
              <a:off x="4099281" y="1224000"/>
              <a:ext cx="1903755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00" b="1" dirty="0">
                  <a:solidFill>
                    <a:schemeClr val="accent3"/>
                  </a:solidFill>
                  <a:latin typeface="Oswald" pitchFamily="34" charset="0"/>
                  <a:ea typeface="Oswald" pitchFamily="34" charset="-122"/>
                  <a:cs typeface="Arial" panose="020B0604020202020204" pitchFamily="34" charset="0"/>
                </a:rPr>
                <a:t>€</a:t>
              </a:r>
              <a:r>
                <a:rPr lang="en-US" sz="4800" b="1" dirty="0">
                  <a:solidFill>
                    <a:schemeClr val="accent3"/>
                  </a:solidFill>
                  <a:latin typeface="Oswald" pitchFamily="34" charset="0"/>
                  <a:ea typeface="Oswald" pitchFamily="34" charset="-122"/>
                  <a:cs typeface="Oswald" pitchFamily="34" charset="-120"/>
                </a:rPr>
                <a:t>550</a:t>
              </a:r>
              <a:endParaRPr lang="en-US" sz="4800" dirty="0"/>
            </a:p>
          </p:txBody>
        </p:sp>
        <p:sp>
          <p:nvSpPr>
            <p:cNvPr id="24" name="Text 7">
              <a:extLst>
                <a:ext uri="{FF2B5EF4-FFF2-40B4-BE49-F238E27FC236}">
                  <a16:creationId xmlns:a16="http://schemas.microsoft.com/office/drawing/2014/main" id="{0E450567-4AF4-9260-E4A8-170022C2F294}"/>
                </a:ext>
              </a:extLst>
            </p:cNvPr>
            <p:cNvSpPr txBox="1"/>
            <p:nvPr/>
          </p:nvSpPr>
          <p:spPr>
            <a:xfrm>
              <a:off x="4099281" y="1960053"/>
              <a:ext cx="1903755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chemeClr val="accent5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fixed services a year</a:t>
              </a:r>
              <a:endParaRPr lang="en-US" sz="1400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B9DDC65-79C5-2FCC-D9A9-C6F67646EDA2}"/>
              </a:ext>
            </a:extLst>
          </p:cNvPr>
          <p:cNvGrpSpPr/>
          <p:nvPr/>
        </p:nvGrpSpPr>
        <p:grpSpPr>
          <a:xfrm>
            <a:off x="8522272" y="1004769"/>
            <a:ext cx="3210852" cy="1516020"/>
            <a:chOff x="8057782" y="1004769"/>
            <a:chExt cx="3210852" cy="1516020"/>
          </a:xfrm>
        </p:grpSpPr>
        <p:sp>
          <p:nvSpPr>
            <p:cNvPr id="41" name="Today step 1">
              <a:extLst>
                <a:ext uri="{FF2B5EF4-FFF2-40B4-BE49-F238E27FC236}">
                  <a16:creationId xmlns:a16="http://schemas.microsoft.com/office/drawing/2014/main" id="{B6FB2651-D554-9CB1-3E5B-0B4C5919F580}"/>
                </a:ext>
              </a:extLst>
            </p:cNvPr>
            <p:cNvSpPr/>
            <p:nvPr/>
          </p:nvSpPr>
          <p:spPr>
            <a:xfrm>
              <a:off x="8057782" y="1004769"/>
              <a:ext cx="3210852" cy="1512077"/>
            </a:xfrm>
            <a:prstGeom prst="roundRect">
              <a:avLst>
                <a:gd name="adj" fmla="val 8000"/>
              </a:avLst>
            </a:prstGeom>
            <a:solidFill>
              <a:srgbClr val="EADFCB">
                <a:alpha val="74902"/>
              </a:srgbClr>
            </a:solidFill>
            <a:ln/>
          </p:spPr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BE0803D2-1EE2-A2E7-E811-93F4589316E6}"/>
                </a:ext>
              </a:extLst>
            </p:cNvPr>
            <p:cNvSpPr txBox="1"/>
            <p:nvPr/>
          </p:nvSpPr>
          <p:spPr>
            <a:xfrm>
              <a:off x="8120579" y="1224000"/>
              <a:ext cx="3130125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4800" b="1" dirty="0">
                  <a:solidFill>
                    <a:schemeClr val="accent3"/>
                  </a:solidFill>
                  <a:latin typeface="Oswald" pitchFamily="34" charset="0"/>
                  <a:ea typeface="Oswald" pitchFamily="34" charset="-122"/>
                  <a:cs typeface="Arial" panose="020B0604020202020204" pitchFamily="34" charset="0"/>
                </a:rPr>
                <a:t>€2k vs €54k</a:t>
              </a:r>
              <a:endParaRPr lang="en-US" sz="4800" dirty="0"/>
            </a:p>
          </p:txBody>
        </p:sp>
        <p:sp>
          <p:nvSpPr>
            <p:cNvPr id="29" name="Text 9">
              <a:extLst>
                <a:ext uri="{FF2B5EF4-FFF2-40B4-BE49-F238E27FC236}">
                  <a16:creationId xmlns:a16="http://schemas.microsoft.com/office/drawing/2014/main" id="{74067ABC-05E2-4FF6-9254-73DCE957F3A1}"/>
                </a:ext>
              </a:extLst>
            </p:cNvPr>
            <p:cNvSpPr txBox="1"/>
            <p:nvPr/>
          </p:nvSpPr>
          <p:spPr>
            <a:xfrm>
              <a:off x="8219237" y="1972149"/>
              <a:ext cx="116681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dirty="0"/>
                <a:t>Year 1 Budget</a:t>
              </a: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8EC62496-7CDA-68FA-54F1-5296970BEB80}"/>
                </a:ext>
              </a:extLst>
            </p:cNvPr>
            <p:cNvSpPr txBox="1"/>
            <p:nvPr/>
          </p:nvSpPr>
          <p:spPr>
            <a:xfrm>
              <a:off x="9946889" y="1972149"/>
              <a:ext cx="1254511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dirty="0"/>
                <a:t>Year 1 Revenue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0789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DB95173-4025-B2AA-76DF-07AE5F212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>
            <a:extLst>
              <a:ext uri="{FF2B5EF4-FFF2-40B4-BE49-F238E27FC236}">
                <a16:creationId xmlns:a16="http://schemas.microsoft.com/office/drawing/2014/main" id="{09CAC80C-DCC7-7308-EA55-80D6DA9A268A}"/>
              </a:ext>
            </a:extLst>
          </p:cNvPr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COST TO RUN</a:t>
            </a:r>
            <a:endParaRPr lang="en-US" sz="13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2341E866-998E-CA46-C1EB-0EEC31F26194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944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contact costs $0.00053 in AI. A customer’s whole year costs 11 cents</a:t>
            </a:r>
            <a:endParaRPr lang="en-US" sz="3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056596E-B9FF-5E20-7BCA-09D51038CE82}"/>
              </a:ext>
            </a:extLst>
          </p:cNvPr>
          <p:cNvSpPr txBox="1"/>
          <p:nvPr/>
        </p:nvSpPr>
        <p:spPr>
          <a:xfrm>
            <a:off x="548640" y="2011680"/>
            <a:ext cx="536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per contact, 60-second voice memo</a:t>
            </a:r>
            <a:endParaRPr lang="en-US" sz="1500" dirty="0"/>
          </a:p>
        </p:txBody>
      </p:sp>
      <p:graphicFrame>
        <p:nvGraphicFramePr>
          <p:cNvPr id="7" name="AI cost table">
            <a:extLst>
              <a:ext uri="{FF2B5EF4-FFF2-40B4-BE49-F238E27FC236}">
                <a16:creationId xmlns:a16="http://schemas.microsoft.com/office/drawing/2014/main" id="{F608E9BE-3E0F-44F3-39DE-EDDB6DB4AFA6}"/>
              </a:ext>
            </a:extLst>
          </p:cNvPr>
          <p:cNvGraphicFramePr>
            <a:graphicFrameLocks noGrp="1"/>
          </p:cNvGraphicFramePr>
          <p:nvPr/>
        </p:nvGraphicFramePr>
        <p:xfrm>
          <a:off x="548640" y="2377440"/>
          <a:ext cx="5454396" cy="2057400"/>
        </p:xfrm>
        <a:graphic>
          <a:graphicData uri="http://schemas.openxmlformats.org/drawingml/2006/table">
            <a:tbl>
              <a:tblPr/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24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7F0E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API call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7F0E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Usage (in + out)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7F0E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Cost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Whisper transcription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60 seconds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$0.00018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Summary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800 + 120 tokens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$0.00014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Match + follow-up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1,200 + 180 tokens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$0.00021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Total per contact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$0.00053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>
            <a:extLst>
              <a:ext uri="{FF2B5EF4-FFF2-40B4-BE49-F238E27FC236}">
                <a16:creationId xmlns:a16="http://schemas.microsoft.com/office/drawing/2014/main" id="{D5F31969-75F3-B24D-0B0E-3DB4D77FBB99}"/>
              </a:ext>
            </a:extLst>
          </p:cNvPr>
          <p:cNvSpPr txBox="1"/>
          <p:nvPr/>
        </p:nvSpPr>
        <p:spPr>
          <a:xfrm>
            <a:off x="6278728" y="2011680"/>
            <a:ext cx="536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Fixed services, per year</a:t>
            </a:r>
            <a:endParaRPr lang="en-US" sz="1500" dirty="0"/>
          </a:p>
        </p:txBody>
      </p:sp>
      <p:graphicFrame>
        <p:nvGraphicFramePr>
          <p:cNvPr id="13" name="Fixed cost table">
            <a:extLst>
              <a:ext uri="{FF2B5EF4-FFF2-40B4-BE49-F238E27FC236}">
                <a16:creationId xmlns:a16="http://schemas.microsoft.com/office/drawing/2014/main" id="{365070E0-F8E3-2F55-7481-38D9353FD4D3}"/>
              </a:ext>
            </a:extLst>
          </p:cNvPr>
          <p:cNvGraphicFramePr>
            <a:graphicFrameLocks noGrp="1"/>
          </p:cNvGraphicFramePr>
          <p:nvPr/>
        </p:nvGraphicFramePr>
        <p:xfrm>
          <a:off x="6278728" y="2377440"/>
          <a:ext cx="5454396" cy="2304288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67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7F0E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Service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7F0E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Plan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7F0E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Per year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Supabase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Pro, up to 100k MAU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$300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Vercel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Pro, one seat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$240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Domain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Cloudflare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$10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Email, Google sign-in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Free tiers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$0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Total fixed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5110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$550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4">
            <a:extLst>
              <a:ext uri="{FF2B5EF4-FFF2-40B4-BE49-F238E27FC236}">
                <a16:creationId xmlns:a16="http://schemas.microsoft.com/office/drawing/2014/main" id="{7984B1C9-97EF-EFFE-C6BC-CAC763F55245}"/>
              </a:ext>
            </a:extLst>
          </p:cNvPr>
          <p:cNvSpPr txBox="1"/>
          <p:nvPr/>
        </p:nvSpPr>
        <p:spPr>
          <a:xfrm>
            <a:off x="548640" y="4846320"/>
            <a:ext cx="3423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$0.11</a:t>
            </a:r>
            <a:endParaRPr lang="en-US" sz="44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54A382B6-BB68-381F-49AB-3C4E0C4BE4DB}"/>
              </a:ext>
            </a:extLst>
          </p:cNvPr>
          <p:cNvSpPr txBox="1"/>
          <p:nvPr/>
        </p:nvSpPr>
        <p:spPr>
          <a:xfrm>
            <a:off x="548640" y="5596128"/>
            <a:ext cx="3423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for one paying customer a year, at 200 contacts</a:t>
            </a:r>
            <a:endParaRPr lang="en-US" sz="14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6ABD5CFB-F6CD-5F57-43B4-B9C54D8B25A3}"/>
              </a:ext>
            </a:extLst>
          </p:cNvPr>
          <p:cNvSpPr txBox="1"/>
          <p:nvPr/>
        </p:nvSpPr>
        <p:spPr>
          <a:xfrm>
            <a:off x="4383938" y="4846320"/>
            <a:ext cx="3423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$550</a:t>
            </a:r>
            <a:endParaRPr lang="en-US" sz="44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41F14DD4-A221-5042-987F-9ACAD9F714C0}"/>
              </a:ext>
            </a:extLst>
          </p:cNvPr>
          <p:cNvSpPr txBox="1"/>
          <p:nvPr/>
        </p:nvSpPr>
        <p:spPr>
          <a:xfrm>
            <a:off x="4383938" y="5596128"/>
            <a:ext cx="3423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fixed services a year; $790 if email needs Resend Pro</a:t>
            </a:r>
            <a:endParaRPr lang="en-US" sz="14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7571033B-A8FB-5A2F-AFCF-2A53775F0B5B}"/>
              </a:ext>
            </a:extLst>
          </p:cNvPr>
          <p:cNvSpPr txBox="1"/>
          <p:nvPr/>
        </p:nvSpPr>
        <p:spPr>
          <a:xfrm>
            <a:off x="8219237" y="4846320"/>
            <a:ext cx="3423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€2k vs €11k</a:t>
            </a:r>
            <a:endParaRPr lang="en-US" sz="44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65267E68-D99A-3FB1-E0F5-66DB778B21A5}"/>
              </a:ext>
            </a:extLst>
          </p:cNvPr>
          <p:cNvSpPr txBox="1"/>
          <p:nvPr/>
        </p:nvSpPr>
        <p:spPr>
          <a:xfrm>
            <a:off x="8219237" y="5596128"/>
            <a:ext cx="3423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year-1 hosting and AI budget against year-1 revenue</a:t>
            </a:r>
            <a:endParaRPr lang="en-US" sz="1400" dirty="0"/>
          </a:p>
        </p:txBody>
      </p:sp>
      <p:sp>
        <p:nvSpPr>
          <p:cNvPr id="14" name="Footnote">
            <a:extLst>
              <a:ext uri="{FF2B5EF4-FFF2-40B4-BE49-F238E27FC236}">
                <a16:creationId xmlns:a16="http://schemas.microsoft.com/office/drawing/2014/main" id="{A636E300-51C8-1DCA-4381-45AA7A34700C}"/>
              </a:ext>
            </a:extLst>
          </p:cNvPr>
          <p:cNvSpPr txBox="1"/>
          <p:nvPr/>
        </p:nvSpPr>
        <p:spPr>
          <a:xfrm>
            <a:off x="548640" y="632764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OpenRouter list prices, Oct 2026: GPT-6 Luna and Whisper Large V3 Turbo. The year-1 budget adds a 10× AI buffer and the free users. The MVP was built in 4 days.</a:t>
            </a:r>
            <a:endParaRPr lang="en-US" sz="105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42D33BB9-DB8D-594A-26F0-2517F52D7F9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0140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50">
                <a:solidFill>
                  <a:schemeClr val="accent5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1046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kern="0" spc="200" dirty="0">
                <a:solidFill>
                  <a:schemeClr val="accent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DEMAND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3179105" y="17785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THE SURVEY SAYS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179105" y="218998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[5 / 10]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693705" y="241858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often forget who someone was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179105" y="328726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[8 min]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5693705" y="35158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time spent on sorting contacts after an event.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179105" y="438454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[6 / 10]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5693705" y="46131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would pay €9 a month</a:t>
            </a:r>
            <a:endParaRPr lang="en-US" sz="1500" dirty="0"/>
          </a:p>
        </p:txBody>
      </p:sp>
      <p:sp>
        <p:nvSpPr>
          <p:cNvPr id="25" name="Footnote"/>
          <p:cNvSpPr txBox="1"/>
          <p:nvPr/>
        </p:nvSpPr>
        <p:spPr>
          <a:xfrm>
            <a:off x="548640" y="632764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Survey: 10 people we know who go to events, a first signal, not proof. Targets from the Syncy business plan; 19 free users per paying user.</a:t>
            </a:r>
            <a:endParaRPr lang="en-US" sz="10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50">
                <a:solidFill>
                  <a:schemeClr val="accent6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511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25E614-2AAC-B3F7-FB5B-42720E4B3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>
            <a:extLst>
              <a:ext uri="{FF2B5EF4-FFF2-40B4-BE49-F238E27FC236}">
                <a16:creationId xmlns:a16="http://schemas.microsoft.com/office/drawing/2014/main" id="{A594E92A-A435-073F-DFFC-BAEB4203C401}"/>
              </a:ext>
            </a:extLst>
          </p:cNvPr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FUNDING</a:t>
            </a:r>
            <a:endParaRPr lang="en-US" sz="13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2664393-61A0-F22F-5F41-84E27C43DABF}"/>
              </a:ext>
            </a:extLst>
          </p:cNvPr>
          <p:cNvSpPr txBox="1"/>
          <p:nvPr/>
        </p:nvSpPr>
        <p:spPr>
          <a:xfrm>
            <a:off x="3538935" y="1709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chemeClr val="accent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YEAR 1 PLAN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F311FD8-2303-3830-3DD2-9B5C31E6B5BE}"/>
              </a:ext>
            </a:extLst>
          </p:cNvPr>
          <p:cNvSpPr txBox="1"/>
          <p:nvPr/>
        </p:nvSpPr>
        <p:spPr>
          <a:xfrm>
            <a:off x="3538935" y="21214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 2026</a:t>
            </a:r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6E038BF-DE32-D71E-E7C4-B6CAFB0E7733}"/>
              </a:ext>
            </a:extLst>
          </p:cNvPr>
          <p:cNvSpPr txBox="1"/>
          <p:nvPr/>
        </p:nvSpPr>
        <p:spPr>
          <a:xfrm>
            <a:off x="4956255" y="21214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pilot users</a:t>
            </a:r>
            <a:endParaRPr lang="en-US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773619F-A380-9975-DE77-F489D25254CE}"/>
              </a:ext>
            </a:extLst>
          </p:cNvPr>
          <p:cNvSpPr txBox="1"/>
          <p:nvPr/>
        </p:nvSpPr>
        <p:spPr>
          <a:xfrm>
            <a:off x="3538935" y="25786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Jun 2027</a:t>
            </a:r>
            <a:endParaRPr lang="en-US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7D6E65C-A347-5A15-C0AD-711B878292EE}"/>
              </a:ext>
            </a:extLst>
          </p:cNvPr>
          <p:cNvSpPr txBox="1"/>
          <p:nvPr/>
        </p:nvSpPr>
        <p:spPr>
          <a:xfrm>
            <a:off x="4956255" y="25786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Paid launch</a:t>
            </a:r>
            <a:endParaRPr lang="en-US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7349382-2CCD-0A06-9FEA-33AC35002F25}"/>
              </a:ext>
            </a:extLst>
          </p:cNvPr>
          <p:cNvSpPr txBox="1"/>
          <p:nvPr/>
        </p:nvSpPr>
        <p:spPr>
          <a:xfrm>
            <a:off x="3538935" y="30358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Oct 2027</a:t>
            </a:r>
            <a:endParaRPr lang="en-US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3259BED-795E-688B-0B06-D92BB6C424A9}"/>
              </a:ext>
            </a:extLst>
          </p:cNvPr>
          <p:cNvSpPr txBox="1"/>
          <p:nvPr/>
        </p:nvSpPr>
        <p:spPr>
          <a:xfrm>
            <a:off x="4956255" y="30358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400 paying users</a:t>
            </a:r>
            <a:endParaRPr lang="en-US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3F5A771-3124-301F-F948-8641833BB069}"/>
              </a:ext>
            </a:extLst>
          </p:cNvPr>
          <p:cNvSpPr txBox="1"/>
          <p:nvPr/>
        </p:nvSpPr>
        <p:spPr>
          <a:xfrm>
            <a:off x="3376477" y="3783823"/>
            <a:ext cx="1534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€11k</a:t>
            </a:r>
            <a:endParaRPr lang="en-US" sz="48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53B816D-9687-53AE-164B-ED2F71E48450}"/>
              </a:ext>
            </a:extLst>
          </p:cNvPr>
          <p:cNvSpPr txBox="1"/>
          <p:nvPr/>
        </p:nvSpPr>
        <p:spPr>
          <a:xfrm>
            <a:off x="3376477" y="4561063"/>
            <a:ext cx="13968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accent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revenue in year 1</a:t>
            </a:r>
            <a:endParaRPr lang="en-US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C834C76-0E44-994B-5368-CD077EEAE174}"/>
              </a:ext>
            </a:extLst>
          </p:cNvPr>
          <p:cNvSpPr txBox="1"/>
          <p:nvPr/>
        </p:nvSpPr>
        <p:spPr>
          <a:xfrm>
            <a:off x="5322978" y="3708520"/>
            <a:ext cx="1534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bg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€43k</a:t>
            </a:r>
            <a:endParaRPr lang="en-US" sz="48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0EBC78F-D539-80B7-1242-827A79ABAEAB}"/>
              </a:ext>
            </a:extLst>
          </p:cNvPr>
          <p:cNvSpPr txBox="1"/>
          <p:nvPr/>
        </p:nvSpPr>
        <p:spPr>
          <a:xfrm>
            <a:off x="5322978" y="4485760"/>
            <a:ext cx="13968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accent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yearly run-rate at year end</a:t>
            </a:r>
            <a:endParaRPr lang="en-US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CC6D77A-C38D-1B47-A7F4-6E569332166B}"/>
              </a:ext>
            </a:extLst>
          </p:cNvPr>
          <p:cNvSpPr txBox="1"/>
          <p:nvPr/>
        </p:nvSpPr>
        <p:spPr>
          <a:xfrm>
            <a:off x="7244182" y="3783823"/>
            <a:ext cx="1534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bg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8,000</a:t>
            </a:r>
            <a:endParaRPr lang="en-US" sz="4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D7FF5A5-83AB-E350-9CDE-5CF22110E79F}"/>
              </a:ext>
            </a:extLst>
          </p:cNvPr>
          <p:cNvSpPr txBox="1"/>
          <p:nvPr/>
        </p:nvSpPr>
        <p:spPr>
          <a:xfrm>
            <a:off x="7244182" y="4561063"/>
            <a:ext cx="13968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accent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users in total, 7,600 of them free</a:t>
            </a:r>
            <a:endParaRPr lang="en-US" dirty="0"/>
          </a:p>
        </p:txBody>
      </p:sp>
      <p:sp>
        <p:nvSpPr>
          <p:cNvPr id="25" name="Footnote">
            <a:extLst>
              <a:ext uri="{FF2B5EF4-FFF2-40B4-BE49-F238E27FC236}">
                <a16:creationId xmlns:a16="http://schemas.microsoft.com/office/drawing/2014/main" id="{A3A6E7B0-B95D-1069-2FA1-BBFCE2FEB1D8}"/>
              </a:ext>
            </a:extLst>
          </p:cNvPr>
          <p:cNvSpPr txBox="1"/>
          <p:nvPr/>
        </p:nvSpPr>
        <p:spPr>
          <a:xfrm>
            <a:off x="548640" y="632764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Survey: 10 people we know who go to events, a first signal, not proof. Targets from the Syncy business plan; 19 free users per paying user.</a:t>
            </a:r>
            <a:endParaRPr lang="en-US" sz="1050" dirty="0"/>
          </a:p>
        </p:txBody>
      </p:sp>
      <p:sp>
        <p:nvSpPr>
          <p:cNvPr id="26" name="Slide Number Placeholder 0">
            <a:extLst>
              <a:ext uri="{FF2B5EF4-FFF2-40B4-BE49-F238E27FC236}">
                <a16:creationId xmlns:a16="http://schemas.microsoft.com/office/drawing/2014/main" id="{04C4A66F-37C0-7398-FC7F-1C9825E230A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0140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50">
                <a:solidFill>
                  <a:schemeClr val="accent6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1830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6F8DF77-BC7C-02DA-D5F8-3CA16C425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>
            <a:extLst>
              <a:ext uri="{FF2B5EF4-FFF2-40B4-BE49-F238E27FC236}">
                <a16:creationId xmlns:a16="http://schemas.microsoft.com/office/drawing/2014/main" id="{2579F10F-2805-A673-96BC-A5164E0DCB34}"/>
              </a:ext>
            </a:extLst>
          </p:cNvPr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ASK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331DF8F-0E81-B248-50AD-7BBD897AF332}"/>
              </a:ext>
            </a:extLst>
          </p:cNvPr>
          <p:cNvSpPr txBox="1"/>
          <p:nvPr/>
        </p:nvSpPr>
        <p:spPr>
          <a:xfrm>
            <a:off x="548640" y="1638749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0" b="1" dirty="0">
                <a:solidFill>
                  <a:schemeClr val="tx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€220k</a:t>
            </a:r>
            <a:endParaRPr lang="en-US" sz="1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DBCDF10-3927-2664-C3BE-189E1A8B4260}"/>
              </a:ext>
            </a:extLst>
          </p:cNvPr>
          <p:cNvSpPr txBox="1"/>
          <p:nvPr/>
        </p:nvSpPr>
        <p:spPr>
          <a:xfrm>
            <a:off x="548640" y="3513269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the first 12 months, team of 4</a:t>
            </a:r>
            <a:endParaRPr lang="en-US" sz="1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3006A99-8439-472F-62C0-7F673517CB9A}"/>
              </a:ext>
            </a:extLst>
          </p:cNvPr>
          <p:cNvSpPr txBox="1"/>
          <p:nvPr/>
        </p:nvSpPr>
        <p:spPr>
          <a:xfrm>
            <a:off x="548640" y="4016189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Break-even at about </a:t>
            </a:r>
            <a:r>
              <a:rPr lang="en-US" sz="1500" b="1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2,100</a:t>
            </a:r>
            <a:r>
              <a:rPr lang="en-US" sz="15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paying users. This round buys the proof that people pay.</a:t>
            </a:r>
            <a:endParaRPr lang="en-US" sz="1500" dirty="0"/>
          </a:p>
        </p:txBody>
      </p:sp>
      <p:graphicFrame>
        <p:nvGraphicFramePr>
          <p:cNvPr id="6" name="Use of funds chart">
            <a:extLst>
              <a:ext uri="{FF2B5EF4-FFF2-40B4-BE49-F238E27FC236}">
                <a16:creationId xmlns:a16="http://schemas.microsoft.com/office/drawing/2014/main" id="{CE4B352A-AABA-F6BF-4787-536840942BE4}"/>
              </a:ext>
            </a:extLst>
          </p:cNvPr>
          <p:cNvGraphicFramePr/>
          <p:nvPr/>
        </p:nvGraphicFramePr>
        <p:xfrm>
          <a:off x="5467350" y="1593028"/>
          <a:ext cx="6724650" cy="35661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>
            <a:extLst>
              <a:ext uri="{FF2B5EF4-FFF2-40B4-BE49-F238E27FC236}">
                <a16:creationId xmlns:a16="http://schemas.microsoft.com/office/drawing/2014/main" id="{AB5845B1-31EF-366B-0E37-D2B22D1AD586}"/>
              </a:ext>
            </a:extLst>
          </p:cNvPr>
          <p:cNvSpPr/>
          <p:nvPr/>
        </p:nvSpPr>
        <p:spPr>
          <a:xfrm>
            <a:off x="548640" y="4526280"/>
            <a:ext cx="11094415" cy="0"/>
          </a:xfrm>
          <a:prstGeom prst="line">
            <a:avLst/>
          </a:prstGeom>
          <a:noFill/>
          <a:ln w="25400">
            <a:solidFill>
              <a:schemeClr val="accent6">
                <a:lumMod val="40000"/>
                <a:lumOff val="60000"/>
                <a:alpha val="1000"/>
              </a:schemeClr>
            </a:solidFill>
            <a:prstDash val="solid"/>
          </a:ln>
        </p:spPr>
      </p:sp>
      <p:sp>
        <p:nvSpPr>
          <p:cNvPr id="16" name="Footnote">
            <a:extLst>
              <a:ext uri="{FF2B5EF4-FFF2-40B4-BE49-F238E27FC236}">
                <a16:creationId xmlns:a16="http://schemas.microsoft.com/office/drawing/2014/main" id="{0627C3C9-DBA6-926E-9AEA-0DD55543079B}"/>
              </a:ext>
            </a:extLst>
          </p:cNvPr>
          <p:cNvSpPr txBox="1"/>
          <p:nvPr/>
        </p:nvSpPr>
        <p:spPr>
          <a:xfrm>
            <a:off x="548640" y="632764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Founder salaries €2,500 a month. Year-1 cost €228k minus about €11k revenue. At Berlin market salaries the plan needs about €480k.</a:t>
            </a:r>
            <a:endParaRPr lang="en-US" sz="105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07F461D6-3853-10A1-B4BC-42714CD555A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0140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50">
                <a:solidFill>
                  <a:schemeClr val="tx1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2741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YEAR 3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944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Three scenarios for the year-3 revenue run-rate</a:t>
            </a:r>
            <a:endParaRPr lang="en-US" sz="3400" dirty="0"/>
          </a:p>
        </p:txBody>
      </p:sp>
      <p:sp>
        <p:nvSpPr>
          <p:cNvPr id="4" name="Conservative scenario"/>
          <p:cNvSpPr/>
          <p:nvPr/>
        </p:nvSpPr>
        <p:spPr>
          <a:xfrm>
            <a:off x="548640" y="2057400"/>
            <a:ext cx="3484778" cy="3246120"/>
          </a:xfrm>
          <a:prstGeom prst="roundRect">
            <a:avLst>
              <a:gd name="adj" fmla="val 2254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24028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Conservative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29361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chemeClr val="bg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€324k</a:t>
            </a:r>
            <a:endParaRPr lang="en-US" sz="6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9476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3,000 paying users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16052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Germany, Notion users only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70916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€285k gross profit</a:t>
            </a:r>
            <a:endParaRPr lang="en-US" sz="1400" dirty="0"/>
          </a:p>
        </p:txBody>
      </p:sp>
      <p:sp>
        <p:nvSpPr>
          <p:cNvPr id="10" name="Base scenario"/>
          <p:cNvSpPr/>
          <p:nvPr/>
        </p:nvSpPr>
        <p:spPr>
          <a:xfrm>
            <a:off x="4353458" y="2057400"/>
            <a:ext cx="3484778" cy="3246120"/>
          </a:xfrm>
          <a:prstGeom prst="roundRect">
            <a:avLst>
              <a:gd name="adj" fmla="val 2254"/>
            </a:avLst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27778" y="224028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27778" y="2651760"/>
            <a:ext cx="29361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chemeClr val="tx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€972k</a:t>
            </a:r>
            <a:endParaRPr lang="en-US" sz="6600" dirty="0"/>
          </a:p>
        </p:txBody>
      </p:sp>
      <p:sp>
        <p:nvSpPr>
          <p:cNvPr id="13" name="Text 11"/>
          <p:cNvSpPr txBox="1"/>
          <p:nvPr/>
        </p:nvSpPr>
        <p:spPr>
          <a:xfrm>
            <a:off x="4627778" y="379476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9,000 paying users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627778" y="416052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DACH, adds Google Drive and Sheets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627778" y="470916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€855k gross profit</a:t>
            </a:r>
            <a:endParaRPr lang="en-US" sz="1400" dirty="0"/>
          </a:p>
        </p:txBody>
      </p:sp>
      <p:sp>
        <p:nvSpPr>
          <p:cNvPr id="16" name="Upside scenario"/>
          <p:cNvSpPr/>
          <p:nvPr/>
        </p:nvSpPr>
        <p:spPr>
          <a:xfrm>
            <a:off x="8158277" y="2057400"/>
            <a:ext cx="3484778" cy="3246120"/>
          </a:xfrm>
          <a:prstGeom prst="roundRect">
            <a:avLst>
              <a:gd name="adj" fmla="val 2254"/>
            </a:avLst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32597" y="224028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Upside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32597" y="2651760"/>
            <a:ext cx="29361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chemeClr val="bg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€2.16M</a:t>
            </a:r>
            <a:endParaRPr lang="en-US" sz="6600" dirty="0"/>
          </a:p>
        </p:txBody>
      </p:sp>
      <p:sp>
        <p:nvSpPr>
          <p:cNvPr id="19" name="Text 17"/>
          <p:cNvSpPr txBox="1"/>
          <p:nvPr/>
        </p:nvSpPr>
        <p:spPr>
          <a:xfrm>
            <a:off x="8432597" y="379476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20,000 paying users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432597" y="416052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EU expansion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432597" y="470916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€1.9M gross profit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577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Break-even is about 2,100 paying users. </a:t>
            </a:r>
            <a:r>
              <a:rPr lang="en-US" sz="1800" b="1" dirty="0">
                <a:solidFill>
                  <a:schemeClr val="accent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Even the conservative case clears it by year 3.</a:t>
            </a:r>
            <a:endParaRPr lang="en-US" sz="1800" dirty="0"/>
          </a:p>
        </p:txBody>
      </p:sp>
      <p:sp>
        <p:nvSpPr>
          <p:cNvPr id="23" name="Footnote"/>
          <p:cNvSpPr txBox="1"/>
          <p:nvPr/>
        </p:nvSpPr>
        <p:spPr>
          <a:xfrm>
            <a:off x="548640" y="632764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 outputs, not forecasts. €108 a year per paying user, 88% gross margin. User counts are set to span the range.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50">
                <a:solidFill>
                  <a:schemeClr val="accent6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ncy">
  <a:themeElements>
    <a:clrScheme name="Syncy">
      <a:dk1>
        <a:srgbClr val="15110E"/>
      </a:dk1>
      <a:lt1>
        <a:srgbClr val="F7F0E4"/>
      </a:lt1>
      <a:dk2>
        <a:srgbClr val="241D17"/>
      </a:dk2>
      <a:lt2>
        <a:srgbClr val="EADFCB"/>
      </a:lt2>
      <a:accent1>
        <a:srgbClr val="FF6B1A"/>
      </a:accent1>
      <a:accent2>
        <a:srgbClr val="FFC93C"/>
      </a:accent2>
      <a:accent3>
        <a:srgbClr val="C2410C"/>
      </a:accent3>
      <a:accent4>
        <a:srgbClr val="CFC5B5"/>
      </a:accent4>
      <a:accent5>
        <a:srgbClr val="5A4F43"/>
      </a:accent5>
      <a:accent6>
        <a:srgbClr val="8F8575"/>
      </a:accent6>
      <a:hlink>
        <a:srgbClr val="C2410C"/>
      </a:hlink>
      <a:folHlink>
        <a:srgbClr val="8F8575"/>
      </a:folHlink>
    </a:clrScheme>
    <a:fontScheme name="Syncy">
      <a:majorFont>
        <a:latin typeface="DM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Syncy">
    <a:dk1>
      <a:srgbClr val="15110E"/>
    </a:dk1>
    <a:lt1>
      <a:srgbClr val="F7F0E4"/>
    </a:lt1>
    <a:dk2>
      <a:srgbClr val="241D17"/>
    </a:dk2>
    <a:lt2>
      <a:srgbClr val="EADFCB"/>
    </a:lt2>
    <a:accent1>
      <a:srgbClr val="FF6B1A"/>
    </a:accent1>
    <a:accent2>
      <a:srgbClr val="FFC93C"/>
    </a:accent2>
    <a:accent3>
      <a:srgbClr val="C2410C"/>
    </a:accent3>
    <a:accent4>
      <a:srgbClr val="CFC5B5"/>
    </a:accent4>
    <a:accent5>
      <a:srgbClr val="5A4F43"/>
    </a:accent5>
    <a:accent6>
      <a:srgbClr val="8F8575"/>
    </a:accent6>
    <a:hlink>
      <a:srgbClr val="C2410C"/>
    </a:hlink>
    <a:folHlink>
      <a:srgbClr val="8F8575"/>
    </a:folHlink>
  </a:clrScheme>
</a:themeOverride>
</file>

<file path=ppt/theme/themeOverride2.xml><?xml version="1.0" encoding="utf-8"?>
<a:themeOverride xmlns:a="http://schemas.openxmlformats.org/drawingml/2006/main">
  <a:clrScheme name="Syncy">
    <a:dk1>
      <a:srgbClr val="15110E"/>
    </a:dk1>
    <a:lt1>
      <a:srgbClr val="F7F0E4"/>
    </a:lt1>
    <a:dk2>
      <a:srgbClr val="241D17"/>
    </a:dk2>
    <a:lt2>
      <a:srgbClr val="EADFCB"/>
    </a:lt2>
    <a:accent1>
      <a:srgbClr val="FF6B1A"/>
    </a:accent1>
    <a:accent2>
      <a:srgbClr val="FFC93C"/>
    </a:accent2>
    <a:accent3>
      <a:srgbClr val="C2410C"/>
    </a:accent3>
    <a:accent4>
      <a:srgbClr val="CFC5B5"/>
    </a:accent4>
    <a:accent5>
      <a:srgbClr val="5A4F43"/>
    </a:accent5>
    <a:accent6>
      <a:srgbClr val="8F8575"/>
    </a:accent6>
    <a:hlink>
      <a:srgbClr val="C2410C"/>
    </a:hlink>
    <a:folHlink>
      <a:srgbClr val="8F8575"/>
    </a:folHlink>
  </a:clrScheme>
</a:themeOverride>
</file>

<file path=ppt/theme/themeOverride3.xml><?xml version="1.0" encoding="utf-8"?>
<a:themeOverride xmlns:a="http://schemas.openxmlformats.org/drawingml/2006/main">
  <a:clrScheme name="Syncy">
    <a:dk1>
      <a:srgbClr val="15110E"/>
    </a:dk1>
    <a:lt1>
      <a:srgbClr val="F7F0E4"/>
    </a:lt1>
    <a:dk2>
      <a:srgbClr val="241D17"/>
    </a:dk2>
    <a:lt2>
      <a:srgbClr val="EADFCB"/>
    </a:lt2>
    <a:accent1>
      <a:srgbClr val="FF6B1A"/>
    </a:accent1>
    <a:accent2>
      <a:srgbClr val="FFC93C"/>
    </a:accent2>
    <a:accent3>
      <a:srgbClr val="C2410C"/>
    </a:accent3>
    <a:accent4>
      <a:srgbClr val="CFC5B5"/>
    </a:accent4>
    <a:accent5>
      <a:srgbClr val="5A4F43"/>
    </a:accent5>
    <a:accent6>
      <a:srgbClr val="8F8575"/>
    </a:accent6>
    <a:hlink>
      <a:srgbClr val="C2410C"/>
    </a:hlink>
    <a:folHlink>
      <a:srgbClr val="8F8575"/>
    </a:folHlink>
  </a:clrScheme>
</a:themeOverride>
</file>

<file path=ppt/theme/themeOverride4.xml><?xml version="1.0" encoding="utf-8"?>
<a:themeOverride xmlns:a="http://schemas.openxmlformats.org/drawingml/2006/main">
  <a:clrScheme name="Syncy">
    <a:dk1>
      <a:srgbClr val="15110E"/>
    </a:dk1>
    <a:lt1>
      <a:srgbClr val="F7F0E4"/>
    </a:lt1>
    <a:dk2>
      <a:srgbClr val="241D17"/>
    </a:dk2>
    <a:lt2>
      <a:srgbClr val="EADFCB"/>
    </a:lt2>
    <a:accent1>
      <a:srgbClr val="FF6B1A"/>
    </a:accent1>
    <a:accent2>
      <a:srgbClr val="FFC93C"/>
    </a:accent2>
    <a:accent3>
      <a:srgbClr val="C2410C"/>
    </a:accent3>
    <a:accent4>
      <a:srgbClr val="CFC5B5"/>
    </a:accent4>
    <a:accent5>
      <a:srgbClr val="5A4F43"/>
    </a:accent5>
    <a:accent6>
      <a:srgbClr val="8F8575"/>
    </a:accent6>
    <a:hlink>
      <a:srgbClr val="C2410C"/>
    </a:hlink>
    <a:folHlink>
      <a:srgbClr val="8F8575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442</TotalTime>
  <Words>3448</Words>
  <Application>Microsoft Macintosh PowerPoint</Application>
  <PresentationFormat>Widescreen</PresentationFormat>
  <Paragraphs>455</Paragraphs>
  <Slides>21</Slides>
  <Notes>19</Notes>
  <HiddenSlides>9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DM Sans</vt:lpstr>
      <vt:lpstr>IBM Plex Sans Condensed</vt:lpstr>
      <vt:lpstr>Oswald</vt:lpstr>
      <vt:lpstr>Syncy</vt:lpstr>
      <vt:lpstr>PowerPoint Presentation</vt:lpstr>
      <vt:lpstr>You meet 200 people a year.  A week later, most are just a name</vt:lpstr>
      <vt:lpstr>PowerPoint Presentation</vt:lpstr>
      <vt:lpstr>5 steps. 4 apps.</vt:lpstr>
      <vt:lpstr>PowerPoint Presentation</vt:lpstr>
      <vt:lpstr>PowerPoint Presentation</vt:lpstr>
      <vt:lpstr>Target Users </vt:lpstr>
      <vt:lpstr>Free to try. €9 a month to keep</vt:lpstr>
      <vt:lpstr>88% gross margin from 1,000 paying users</vt:lpstr>
      <vt:lpstr>PowerPoint Presentation</vt:lpstr>
      <vt:lpstr>PowerPoint Presentation</vt:lpstr>
      <vt:lpstr>PowerPoint Presentation</vt:lpstr>
      <vt:lpstr>18 hours and €1,890 back per person, every year</vt:lpstr>
      <vt:lpstr>PowerPoint Presentation</vt:lpstr>
      <vt:lpstr>PowerPoint Presentation</vt:lpstr>
      <vt:lpstr>PowerPoint Presentation</vt:lpstr>
      <vt:lpstr>One contact costs $0.00053 in AI. A customer’s whole year costs 11 cents</vt:lpstr>
      <vt:lpstr>PowerPoint Presentation</vt:lpstr>
      <vt:lpstr>PowerPoint Presentation</vt:lpstr>
      <vt:lpstr>PowerPoint Presentation</vt:lpstr>
      <vt:lpstr>Three scenarios for the year-3 revenue run-rate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Syncy pitch deck</dc:title>
  <dc:subject>PptxGenJS Presentation</dc:subject>
  <dc:creator>PptxGenJS</dc:creator>
  <cp:lastModifiedBy>Nodirbek Saidov</cp:lastModifiedBy>
  <cp:revision>12</cp:revision>
  <dcterms:created xsi:type="dcterms:W3CDTF">2026-10-25T14:46:26Z</dcterms:created>
  <dcterms:modified xsi:type="dcterms:W3CDTF">2026-10-26T12:23:18Z</dcterms:modified>
</cp:coreProperties>
</file>